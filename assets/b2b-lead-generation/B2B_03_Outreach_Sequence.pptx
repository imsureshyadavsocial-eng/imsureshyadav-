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18872" cy="6858000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549640" y="0"/>
            <a:ext cx="3639312" cy="6492240"/>
          </a:xfrm>
          <a:prstGeom prst="rect">
            <a:avLst/>
          </a:prstGeom>
          <a:solidFill>
            <a:srgbClr val="1A1D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308592" y="932688"/>
            <a:ext cx="1965960" cy="118872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308592" y="1225296"/>
            <a:ext cx="1280160" cy="118872"/>
          </a:xfrm>
          <a:prstGeom prst="rect">
            <a:avLst/>
          </a:prstGeom>
          <a:solidFill>
            <a:srgbClr val="77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308592" y="1517904"/>
            <a:ext cx="1627632" cy="118872"/>
          </a:xfrm>
          <a:prstGeom prst="rect">
            <a:avLst/>
          </a:prstGeom>
          <a:solidFill>
            <a:srgbClr val="777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9281160" y="2743200"/>
            <a:ext cx="1417320" cy="1097280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756648" y="3035808"/>
            <a:ext cx="914400" cy="1737360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0232136" y="3328416"/>
            <a:ext cx="1691640" cy="768096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162288" y="5047488"/>
            <a:ext cx="2331720" cy="804672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299448" y="5166360"/>
            <a:ext cx="2057400" cy="5669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318"/>
                </a:solidFill>
                <a:latin typeface="Inter"/>
              </a:rPr>
              <a:t>RESEARCH</a:t>
            </a:r>
          </a:p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11318"/>
                </a:solidFill>
                <a:latin typeface="Inter"/>
              </a:rPr>
              <a:t>BEFORE REACH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58368" y="530352"/>
            <a:ext cx="1783080" cy="256032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31519" y="544068"/>
            <a:ext cx="1636776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318"/>
                </a:solidFill>
                <a:latin typeface="Inter"/>
              </a:rPr>
              <a:t>NORTHFRAME STUDIO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" y="1060704"/>
            <a:ext cx="521208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7ABB2"/>
                </a:solidFill>
                <a:latin typeface="Inter"/>
              </a:rPr>
              <a:t>B2B LEAD GENERATION PORTFOLIO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" y="1755648"/>
            <a:ext cx="7406640" cy="6583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7F6F2"/>
                </a:solidFill>
                <a:latin typeface="Inter"/>
              </a:rPr>
              <a:t>RELEVANT OUTREACH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2468880"/>
            <a:ext cx="5029200" cy="5852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100" b="1" i="0">
                <a:solidFill>
                  <a:srgbClr val="F7F6F2"/>
                </a:solidFill>
                <a:latin typeface="Inter"/>
              </a:rPr>
              <a:t>STARTS WITH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8368" y="3099816"/>
            <a:ext cx="5669280" cy="74980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200" b="1" i="0">
                <a:solidFill>
                  <a:srgbClr val="C8FF45"/>
                </a:solidFill>
                <a:latin typeface="Inter"/>
              </a:rPr>
              <a:t>RESEARCH.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76656" y="4087368"/>
            <a:ext cx="6565392" cy="0"/>
          </a:xfrm>
          <a:prstGeom prst="line">
            <a:avLst/>
          </a:prstGeom>
          <a:ln w="15240">
            <a:solidFill>
              <a:srgbClr val="23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676656" y="4370832"/>
            <a:ext cx="6858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6F2"/>
                </a:solidFill>
                <a:latin typeface="Inter"/>
              </a:rPr>
              <a:t>B2B Cold Email &amp; LinkedIn Outreach Framework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6656" y="4901184"/>
            <a:ext cx="438912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30" b="0" i="0">
                <a:solidFill>
                  <a:srgbClr val="A7ABB2"/>
                </a:solidFill>
                <a:latin typeface="Inter"/>
              </a:rPr>
              <a:t>Prepared by: Suresh Yadav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76656" y="5605272"/>
            <a:ext cx="2331720" cy="256032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9808" y="5618988"/>
            <a:ext cx="2185415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F7F6F2"/>
                </a:solidFill>
                <a:latin typeface="Inter"/>
              </a:rPr>
              <a:t>FICTIONAL CONCEPT PROJECT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6656" y="5961888"/>
            <a:ext cx="7223760" cy="25603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A7ABB2"/>
                </a:solidFill>
                <a:latin typeface="Inter"/>
              </a:rPr>
              <a:t>A practical system for thoughtful, relevant prospect conversations.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30352" y="6574536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7ABB2"/>
                </a:solidFill>
                <a:latin typeface="Inter"/>
              </a:rPr>
              <a:t>SURESH YADAV  /  B2B LEAD GENERATION PORTFOLIO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1040" y="6574536"/>
            <a:ext cx="2468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A7ABB2"/>
                </a:solidFill>
                <a:latin typeface="Inter"/>
              </a:rPr>
              <a:t>FICTIONAL CONCEPT PROJECT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36224" y="65653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A7ABB2"/>
                </a:solidFill>
                <a:latin typeface="Inter"/>
              </a:rPr>
              <a:t>01 / 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326"/>
                </a:solidFill>
                <a:latin typeface="Inter"/>
              </a:rPr>
              <a:t>01 / OPERATING PRINCIPLES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1A20"/>
                </a:solidFill>
                <a:latin typeface="Inter"/>
              </a:rPr>
              <a:t>A relevance-first outreach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978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777D87"/>
                </a:solidFill>
                <a:latin typeface="Inter"/>
              </a:rPr>
              <a:t>A repeatable workflow built around verified context, role fit and respectful follow-through.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777D87"/>
                </a:solidFill>
                <a:latin typeface="Inter"/>
              </a:rPr>
              <a:t>SURESH YADAV  /  B2B LEAD GENERATION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74536"/>
            <a:ext cx="2468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77D87"/>
                </a:solidFill>
                <a:latin typeface="Inter"/>
              </a:rPr>
              <a:t>FICTIONAL CONCEPT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6224" y="65653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777D87"/>
                </a:solidFill>
                <a:latin typeface="Inter"/>
              </a:rPr>
              <a:t>02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2011680" cy="640080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470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8FF45"/>
                </a:solidFill>
                <a:latin typeface="Inter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1837943"/>
            <a:ext cx="14721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7F6F2"/>
                </a:solidFill>
                <a:latin typeface="Inter"/>
              </a:rPr>
              <a:t>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89580" y="1892807"/>
            <a:ext cx="9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D87"/>
                </a:solidFill>
                <a:latin typeface="Inter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88336" y="1719072"/>
            <a:ext cx="2057400" cy="640080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807208" y="18470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8FF45"/>
                </a:solidFill>
                <a:latin typeface="Inter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127248" y="1837943"/>
            <a:ext cx="151790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7F6F2"/>
                </a:solidFill>
                <a:latin typeface="Inter"/>
              </a:rPr>
              <a:t>PERSONALISE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56708" y="1892807"/>
            <a:ext cx="9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D87"/>
                </a:solidFill>
                <a:latin typeface="Inter"/>
              </a:rP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55464" y="1719072"/>
            <a:ext cx="2240280" cy="640080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974336" y="18470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8FF45"/>
                </a:solidFill>
                <a:latin typeface="Inter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94376" y="1837943"/>
            <a:ext cx="170078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7F6F2"/>
                </a:solidFill>
                <a:latin typeface="Inter"/>
              </a:rPr>
              <a:t>OFFER RELEVANCE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06716" y="1892807"/>
            <a:ext cx="9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D87"/>
                </a:solidFill>
                <a:latin typeface="Inter"/>
              </a:rPr>
              <a:t>→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205472" y="1719072"/>
            <a:ext cx="2423160" cy="640080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24344" y="18470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C8FF45"/>
                </a:solidFill>
                <a:latin typeface="Inter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44384" y="1837943"/>
            <a:ext cx="188366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F7F6F2"/>
                </a:solidFill>
                <a:latin typeface="Inter"/>
              </a:rPr>
              <a:t>ASK A SIMPLE QUESTION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39604" y="1892807"/>
            <a:ext cx="914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777D87"/>
                </a:solidFill>
                <a:latin typeface="Inter"/>
              </a:rP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738360" y="1719072"/>
            <a:ext cx="2148840" cy="640080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57232" y="1847088"/>
            <a:ext cx="329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40" b="1" i="0">
                <a:solidFill>
                  <a:srgbClr val="111318"/>
                </a:solidFill>
                <a:latin typeface="Inter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177272" y="1837943"/>
            <a:ext cx="1609344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9" b="1" i="0">
                <a:solidFill>
                  <a:srgbClr val="111318"/>
                </a:solidFill>
                <a:latin typeface="Inter"/>
              </a:rPr>
              <a:t>RECORD OUTCOME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2670048"/>
            <a:ext cx="6812280" cy="3429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95528" y="2880360"/>
            <a:ext cx="20116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647326"/>
                </a:solidFill>
                <a:latin typeface="Inter"/>
              </a:rPr>
              <a:t>THE SEQUENCE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2960" y="3218688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77D87"/>
                </a:solidFill>
                <a:latin typeface="Inter"/>
              </a:rPr>
              <a:t>01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98448" y="3218688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A20"/>
                </a:solidFill>
                <a:latin typeface="Inter"/>
              </a:rPr>
              <a:t>Research the company before contacting anyone.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04672" y="3529584"/>
            <a:ext cx="6263640" cy="0"/>
          </a:xfrm>
          <a:prstGeom prst="line">
            <a:avLst/>
          </a:prstGeom>
          <a:ln w="8255">
            <a:solidFill>
              <a:srgbClr val="E9E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22960" y="3602736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77D87"/>
                </a:solidFill>
                <a:latin typeface="Inter"/>
              </a:rPr>
              <a:t>02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298448" y="3602736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A20"/>
                </a:solidFill>
                <a:latin typeface="Inter"/>
              </a:rPr>
              <a:t>Choose a role with a plausible connection to the offer.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804672" y="3913632"/>
            <a:ext cx="6263640" cy="0"/>
          </a:xfrm>
          <a:prstGeom prst="line">
            <a:avLst/>
          </a:prstGeom>
          <a:ln w="8255">
            <a:solidFill>
              <a:srgbClr val="E9E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822960" y="3986784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77D87"/>
                </a:solidFill>
                <a:latin typeface="Inter"/>
              </a:rPr>
              <a:t>03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98448" y="3986784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A20"/>
                </a:solidFill>
                <a:latin typeface="Inter"/>
              </a:rPr>
              <a:t>Use one genuine, publicly available business observation.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804672" y="4297680"/>
            <a:ext cx="6263640" cy="0"/>
          </a:xfrm>
          <a:prstGeom prst="line">
            <a:avLst/>
          </a:prstGeom>
          <a:ln w="8255">
            <a:solidFill>
              <a:srgbClr val="E9E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822960" y="4370832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77D87"/>
                </a:solidFill>
                <a:latin typeface="Inter"/>
              </a:rPr>
              <a:t>04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298448" y="4370832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A20"/>
                </a:solidFill>
                <a:latin typeface="Inter"/>
              </a:rPr>
              <a:t>Describe a relevant service in plain language.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804672" y="4681728"/>
            <a:ext cx="6263640" cy="0"/>
          </a:xfrm>
          <a:prstGeom prst="line">
            <a:avLst/>
          </a:prstGeom>
          <a:ln w="8255">
            <a:solidFill>
              <a:srgbClr val="E9E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22960" y="4754880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77D87"/>
                </a:solidFill>
                <a:latin typeface="Inter"/>
              </a:rPr>
              <a:t>05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298448" y="4754880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A20"/>
                </a:solidFill>
                <a:latin typeface="Inter"/>
              </a:rPr>
              <a:t>Use a simple, low-pressure question as the CTA.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04672" y="5065776"/>
            <a:ext cx="6263640" cy="0"/>
          </a:xfrm>
          <a:prstGeom prst="line">
            <a:avLst/>
          </a:prstGeom>
          <a:ln w="8255">
            <a:solidFill>
              <a:srgbClr val="E9E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2960" y="5138928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77D87"/>
                </a:solidFill>
                <a:latin typeface="Inter"/>
              </a:rPr>
              <a:t>06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298448" y="5138928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A20"/>
                </a:solidFill>
                <a:latin typeface="Inter"/>
              </a:rPr>
              <a:t>Follow up only when appropriate and permitted.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04672" y="5449824"/>
            <a:ext cx="6263640" cy="0"/>
          </a:xfrm>
          <a:prstGeom prst="line">
            <a:avLst/>
          </a:prstGeom>
          <a:ln w="8255">
            <a:solidFill>
              <a:srgbClr val="E9EAE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22960" y="5522976"/>
            <a:ext cx="329184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777D87"/>
                </a:solidFill>
                <a:latin typeface="Inter"/>
              </a:rPr>
              <a:t>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98448" y="5522976"/>
            <a:ext cx="5715000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60" b="0" i="0">
                <a:solidFill>
                  <a:srgbClr val="171A20"/>
                </a:solidFill>
                <a:latin typeface="Inter"/>
              </a:rPr>
              <a:t>Respect opt-outs and stop after a clear decline.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7607808" y="2670048"/>
            <a:ext cx="3995928" cy="1481328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ounded Rectangle 51"/>
          <p:cNvSpPr/>
          <p:nvPr/>
        </p:nvSpPr>
        <p:spPr>
          <a:xfrm>
            <a:off x="7872983" y="2907792"/>
            <a:ext cx="1161288" cy="256032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946136" y="2921508"/>
            <a:ext cx="10149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318"/>
                </a:solidFill>
                <a:latin typeface="Inter"/>
              </a:rPr>
              <a:t>QUALITY GATE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882127" y="3319272"/>
            <a:ext cx="336499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50" b="1" i="0">
                <a:solidFill>
                  <a:srgbClr val="F7F6F2"/>
                </a:solidFill>
                <a:latin typeface="Inter"/>
              </a:rPr>
              <a:t>No observation, no personalisation claim.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891272" y="3822191"/>
            <a:ext cx="315468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69" b="0" i="0">
                <a:solidFill>
                  <a:srgbClr val="A7ABB2"/>
                </a:solidFill>
                <a:latin typeface="Inter"/>
              </a:rPr>
              <a:t>Check source, date and relevance before drafting.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607808" y="4352544"/>
            <a:ext cx="3995928" cy="1746504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872983" y="4608576"/>
            <a:ext cx="105156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326"/>
                </a:solidFill>
                <a:latin typeface="Inter"/>
              </a:rPr>
              <a:t>DO NOT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72983" y="4937760"/>
            <a:ext cx="3337560" cy="6858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1A20"/>
                </a:solidFill>
                <a:latin typeface="Inter"/>
              </a:rPr>
              <a:t>Mass-message irrelevant contacts, imply a website audit you did not perform, or continue after an opt-out.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8FF45"/>
                </a:solidFill>
                <a:latin typeface="Inter"/>
              </a:rPr>
              <a:t>02 / EMAIL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7F6F2"/>
                </a:solidFill>
                <a:latin typeface="Inter"/>
              </a:rPr>
              <a:t>Three touches. One respectful path.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978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7ABB2"/>
                </a:solidFill>
                <a:latin typeface="Inter"/>
              </a:rPr>
              <a:t>Templates are starting points. Replace placeholders and verify the opening before sending.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7ABB2"/>
                </a:solidFill>
                <a:latin typeface="Inter"/>
              </a:rPr>
              <a:t>SURESH YADAV  /  B2B LEAD GENERATION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74536"/>
            <a:ext cx="2468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A7ABB2"/>
                </a:solidFill>
                <a:latin typeface="Inter"/>
              </a:rPr>
              <a:t>FICTIONAL CONCEPT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6224" y="65653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A7ABB2"/>
                </a:solidFill>
                <a:latin typeface="Inter"/>
              </a:rPr>
              <a:t>03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3401568" cy="4498848"/>
          </a:xfrm>
          <a:prstGeom prst="roundRect">
            <a:avLst>
              <a:gd name="adj" fmla="val 12000"/>
            </a:avLst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566928" y="1719072"/>
            <a:ext cx="3401568" cy="530352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9808" y="1874519"/>
            <a:ext cx="3035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11318"/>
                </a:solidFill>
                <a:latin typeface="Inter"/>
              </a:rPr>
              <a:t>EMAIL 01  /  INITIAL OUTREACH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43230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47326"/>
                </a:solidFill>
                <a:latin typeface="Inter"/>
              </a:rPr>
              <a:t>SUBJECT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68096" y="2633472"/>
            <a:ext cx="299923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1A20"/>
                </a:solidFill>
                <a:latin typeface="Inter"/>
              </a:rPr>
              <a:t>A quick idea for [Company Name]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68096" y="3035808"/>
            <a:ext cx="2999232" cy="0"/>
          </a:xfrm>
          <a:prstGeom prst="line">
            <a:avLst/>
          </a:prstGeom>
          <a:ln w="8255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68096" y="3172968"/>
            <a:ext cx="2999232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Hi [First Name],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I came across [Company Name] while researching businesses in the B2B software space.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I help small businesses with website copy, marketing graphics and social media content. Depending on your current priorities, one of these areas may be worth exploring.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Would you be open to a short message outlining one relevant idea for [Company Name]?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Best,</a:t>
            </a: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Suresh Yadav</a:t>
            </a: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Creative and Content Services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13232" y="5742432"/>
            <a:ext cx="3108960" cy="338328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3816" y="5788152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C8FF45"/>
                </a:solidFill>
                <a:latin typeface="Inter"/>
              </a:rPr>
              <a:t>SEND ONLY AFTER A REAL OBSERVATION IS VERIFIED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07408" y="1719072"/>
            <a:ext cx="3401568" cy="4498848"/>
          </a:xfrm>
          <a:prstGeom prst="roundRect">
            <a:avLst>
              <a:gd name="adj" fmla="val 12000"/>
            </a:avLst>
          </a:prstGeom>
          <a:solidFill>
            <a:srgbClr val="ECEE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407408" y="1719072"/>
            <a:ext cx="3401568" cy="530352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0288" y="1874519"/>
            <a:ext cx="3035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7F6F2"/>
                </a:solidFill>
                <a:latin typeface="Inter"/>
              </a:rPr>
              <a:t>EMAIL 02  /  FOLLOW-UP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08576" y="243230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47326"/>
                </a:solidFill>
                <a:latin typeface="Inter"/>
              </a:rPr>
              <a:t>SUBJECT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08576" y="2633472"/>
            <a:ext cx="299923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1A20"/>
                </a:solidFill>
                <a:latin typeface="Inter"/>
              </a:rPr>
              <a:t>Re: A quick idea for [Company Name]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08576" y="3035808"/>
            <a:ext cx="2999232" cy="0"/>
          </a:xfrm>
          <a:prstGeom prst="line">
            <a:avLst/>
          </a:prstGeom>
          <a:ln w="8255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08576" y="3172968"/>
            <a:ext cx="2999232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Hi [First Name],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I wanted to follow up on my previous message.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If improving website messaging or maintaining a consistent social media presence is currently a priority, I would be happy to share a specific suggestion relevant to your business.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If this is not a focus right now, no problem.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Best,</a:t>
            </a: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Suresh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53712" y="5742432"/>
            <a:ext cx="3108960" cy="338328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54296" y="5788152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F7F6F2"/>
                </a:solidFill>
                <a:latin typeface="Inter"/>
              </a:rPr>
              <a:t>USE ONLY WHEN APPROPRIATE AND PERMITTED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247888" y="1719072"/>
            <a:ext cx="3401568" cy="4498848"/>
          </a:xfrm>
          <a:prstGeom prst="roundRect">
            <a:avLst>
              <a:gd name="adj" fmla="val 12000"/>
            </a:avLst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247888" y="1719072"/>
            <a:ext cx="3401568" cy="530352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430767" y="1874519"/>
            <a:ext cx="3035808" cy="2103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F7F6F2"/>
                </a:solidFill>
                <a:latin typeface="Inter"/>
              </a:rPr>
              <a:t>EMAIL 03  /  POLITE CLOSE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49056" y="2432304"/>
            <a:ext cx="77724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10" b="1" i="0">
                <a:solidFill>
                  <a:srgbClr val="647326"/>
                </a:solidFill>
                <a:latin typeface="Inter"/>
              </a:rPr>
              <a:t>SUBJECT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49056" y="2633472"/>
            <a:ext cx="2999232" cy="33832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1A20"/>
                </a:solidFill>
                <a:latin typeface="Inter"/>
              </a:rPr>
              <a:t>Closing the loop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8449056" y="3035808"/>
            <a:ext cx="2999232" cy="0"/>
          </a:xfrm>
          <a:prstGeom prst="line">
            <a:avLst/>
          </a:prstGeom>
          <a:ln w="8255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8449056" y="3172968"/>
            <a:ext cx="2999232" cy="24231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Hi [First Name],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I will close the loop here so I do not clutter your inbox.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If website copy, marketing design or social media content becomes a priority in the future, you are welcome to reach out.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Thanks for your time.</a:t>
            </a:r>
          </a:p>
          <a:p>
            <a:pPr>
              <a:spcBef>
                <a:spcPts val="0"/>
              </a:spcBef>
              <a:spcAft>
                <a:spcPts val="400"/>
              </a:spcAft>
            </a:pP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Best,</a:t>
            </a:r>
          </a:p>
          <a:p>
            <a:pPr>
              <a:spcBef>
                <a:spcPts val="0"/>
              </a:spcBef>
              <a:spcAft>
                <a:spcPts val="210"/>
              </a:spcAft>
            </a:pPr>
            <a:r>
              <a:rPr sz="880">
                <a:solidFill>
                  <a:srgbClr val="171A20"/>
                </a:solidFill>
                <a:latin typeface="Inter"/>
              </a:rPr>
              <a:t>Suresh Yadav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94192" y="5742432"/>
            <a:ext cx="3108960" cy="338328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494776" y="5788152"/>
            <a:ext cx="290779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70" b="1" i="0">
                <a:solidFill>
                  <a:srgbClr val="C8FF45"/>
                </a:solidFill>
                <a:latin typeface="Inter"/>
              </a:rPr>
              <a:t>NEVER SEND AFTER AN OPT-OUT OR STOP REQUEST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326"/>
                </a:solidFill>
                <a:latin typeface="Inter"/>
              </a:rPr>
              <a:t>03 / LINKEDIN SEQUENCE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1A20"/>
                </a:solidFill>
                <a:latin typeface="Inter"/>
              </a:rPr>
              <a:t>Conversation before conversion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978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777D87"/>
                </a:solidFill>
                <a:latin typeface="Inter"/>
              </a:rPr>
              <a:t>Keep each message native to the platform: brief, specific and easy to decline.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777D87"/>
                </a:solidFill>
                <a:latin typeface="Inter"/>
              </a:rPr>
              <a:t>SURESH YADAV  /  B2B LEAD GENERATION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74536"/>
            <a:ext cx="2468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77D87"/>
                </a:solidFill>
                <a:latin typeface="Inter"/>
              </a:rPr>
              <a:t>FICTIONAL CONCEPT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6224" y="65653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777D87"/>
                </a:solidFill>
                <a:latin typeface="Inter"/>
              </a:rPr>
              <a:t>04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55648"/>
            <a:ext cx="3493008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68096" y="1984248"/>
            <a:ext cx="1060704" cy="256032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1997964"/>
            <a:ext cx="91439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47326"/>
                </a:solidFill>
                <a:latin typeface="Inter"/>
              </a:rPr>
              <a:t>MESSAGE 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8096" y="2395728"/>
            <a:ext cx="30540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A20"/>
                </a:solidFill>
                <a:latin typeface="Inter"/>
              </a:rPr>
              <a:t>CONNECTION REQUEST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8096" y="2788920"/>
            <a:ext cx="3063240" cy="1627632"/>
          </a:xfrm>
          <a:prstGeom prst="roundRect">
            <a:avLst>
              <a:gd name="adj" fmla="val 12000"/>
            </a:avLst>
          </a:prstGeom>
          <a:solidFill>
            <a:srgbClr val="E9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3544" y="2926080"/>
            <a:ext cx="27614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A20"/>
                </a:solidFill>
                <a:latin typeface="Inter"/>
              </a:rPr>
              <a:t>Hi [First Name], I work on website copy, marketing design and social media content for businesses. I came across your professional profile while researching the B2B SaaS space and would be glad to connect.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68096" y="4590288"/>
            <a:ext cx="3090672" cy="0"/>
          </a:xfrm>
          <a:prstGeom prst="line">
            <a:avLst/>
          </a:prstGeom>
          <a:ln w="7620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68096" y="4736592"/>
            <a:ext cx="301752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326"/>
                </a:solidFill>
                <a:latin typeface="Inter"/>
              </a:rPr>
              <a:t>GOAL: CONNECT, NOT PITCH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07408" y="1755648"/>
            <a:ext cx="3493008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608576" y="1984248"/>
            <a:ext cx="1060704" cy="256032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81728" y="1997964"/>
            <a:ext cx="91439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47326"/>
                </a:solidFill>
                <a:latin typeface="Inter"/>
              </a:rPr>
              <a:t>MESSAGE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08576" y="2395728"/>
            <a:ext cx="30540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A20"/>
                </a:solidFill>
                <a:latin typeface="Inter"/>
              </a:rPr>
              <a:t>AFTER ACCEPTANCE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608576" y="2788920"/>
            <a:ext cx="3063240" cy="1627632"/>
          </a:xfrm>
          <a:prstGeom prst="roundRect">
            <a:avLst>
              <a:gd name="adj" fmla="val 12000"/>
            </a:avLst>
          </a:prstGeom>
          <a:solidFill>
            <a:srgbClr val="E9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64024" y="2926080"/>
            <a:ext cx="27614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A20"/>
                </a:solidFill>
                <a:latin typeface="Inter"/>
              </a:rPr>
              <a:t>Thanks for connecting, [First Name]. I help businesses communicate their value through clear website copy and consistent marketing content. Is improving either area something your team is considering?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4608576" y="4590288"/>
            <a:ext cx="3090672" cy="0"/>
          </a:xfrm>
          <a:prstGeom prst="line">
            <a:avLst/>
          </a:prstGeom>
          <a:ln w="7620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4608576" y="4736592"/>
            <a:ext cx="301752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326"/>
                </a:solidFill>
                <a:latin typeface="Inter"/>
              </a:rPr>
              <a:t>GOAL: CHECK RELEVANCE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247888" y="1755648"/>
            <a:ext cx="3493008" cy="3364992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449056" y="1984248"/>
            <a:ext cx="1060704" cy="256032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22208" y="1997964"/>
            <a:ext cx="914399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647326"/>
                </a:solidFill>
                <a:latin typeface="Inter"/>
              </a:rPr>
              <a:t>MESSAGE 03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449056" y="2395728"/>
            <a:ext cx="3054096" cy="2468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1A20"/>
                </a:solidFill>
                <a:latin typeface="Inter"/>
              </a:rPr>
              <a:t>RELEVANT FOLLOW-UP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449056" y="2788920"/>
            <a:ext cx="3063240" cy="1627632"/>
          </a:xfrm>
          <a:prstGeom prst="roundRect">
            <a:avLst>
              <a:gd name="adj" fmla="val 12000"/>
            </a:avLst>
          </a:prstGeom>
          <a:solidFill>
            <a:srgbClr val="E9EAE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04504" y="2926080"/>
            <a:ext cx="2761488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30" b="0" i="0">
                <a:solidFill>
                  <a:srgbClr val="171A20"/>
                </a:solidFill>
                <a:latin typeface="Inter"/>
              </a:rPr>
              <a:t>Hi [First Name], one possible area to explore for a SaaS business is making its product messaging clearer across the website and social channels. If that is relevant to your current priorities, I can share a brief idea. No worries if it is not a focus.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8449056" y="4590288"/>
            <a:ext cx="3090672" cy="0"/>
          </a:xfrm>
          <a:prstGeom prst="line">
            <a:avLst/>
          </a:prstGeom>
          <a:ln w="7620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8449056" y="4736592"/>
            <a:ext cx="3017520" cy="1920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647326"/>
                </a:solidFill>
                <a:latin typeface="Inter"/>
              </a:rPr>
              <a:t>GOAL: OFFER A USEFUL NEXT STEP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5385816"/>
            <a:ext cx="11045952" cy="722376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58952" y="5596128"/>
            <a:ext cx="100584" cy="320040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05840" y="5541264"/>
            <a:ext cx="10241280" cy="34747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7F6F2"/>
                </a:solidFill>
                <a:latin typeface="Inter"/>
              </a:rPr>
              <a:t>PERSONALISE EVERY MESSAGE. Follow LinkedIn terms and the recipient's preferences. Do not automate indiscriminate messaging.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326"/>
                </a:solidFill>
                <a:latin typeface="Inter"/>
              </a:rPr>
              <a:t>04 / PROSPECT RESEARCH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1A20"/>
                </a:solidFill>
                <a:latin typeface="Inter"/>
              </a:rPr>
              <a:t>Personalisation must be reviewable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978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777D87"/>
                </a:solidFill>
                <a:latin typeface="Inter"/>
              </a:rPr>
              <a:t>Record the source and date so another person can validate the reasoning.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777D87"/>
                </a:solidFill>
                <a:latin typeface="Inter"/>
              </a:rPr>
              <a:t>SURESH YADAV  /  B2B LEAD GENERATION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74536"/>
            <a:ext cx="2468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77D87"/>
                </a:solidFill>
                <a:latin typeface="Inter"/>
              </a:rPr>
              <a:t>FICTIONAL CONCEPT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6224" y="65653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777D87"/>
                </a:solidFill>
                <a:latin typeface="Inter"/>
              </a:rPr>
              <a:t>05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19072"/>
            <a:ext cx="7516368" cy="429768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94944" y="1847088"/>
            <a:ext cx="1618487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F45"/>
                </a:solidFill>
                <a:latin typeface="Inter"/>
              </a:rPr>
              <a:t>FIELD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9464" y="1847088"/>
            <a:ext cx="1655063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F45"/>
                </a:solidFill>
                <a:latin typeface="Inter"/>
              </a:rPr>
              <a:t>WHAT TO RESEARCH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80559" y="1847088"/>
            <a:ext cx="34747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C8FF45"/>
                </a:solidFill>
                <a:latin typeface="Inter"/>
              </a:rPr>
              <a:t>HOW TO USE IT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2167128"/>
            <a:ext cx="7516368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85800" y="2221992"/>
            <a:ext cx="1645919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171A20"/>
                </a:solidFill>
                <a:latin typeface="Inter"/>
              </a:rPr>
              <a:t>Company name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2221992"/>
            <a:ext cx="168249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Verify the correct business.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71416" y="2221992"/>
            <a:ext cx="35021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Avoid confusing similarly named companies.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651760"/>
            <a:ext cx="7516368" cy="466344"/>
          </a:xfrm>
          <a:prstGeom prst="rect">
            <a:avLst/>
          </a:prstGeom>
          <a:solidFill>
            <a:srgbClr val="EEEFE9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2706624"/>
            <a:ext cx="1645919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171A20"/>
                </a:solidFill>
                <a:latin typeface="Inter"/>
              </a:rPr>
              <a:t>Website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2706624"/>
            <a:ext cx="168249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Understand the product and services.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71416" y="2706624"/>
            <a:ext cx="35021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Ground the message in the actual offer.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66928" y="3136392"/>
            <a:ext cx="7516368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3191256"/>
            <a:ext cx="1645919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171A20"/>
                </a:solidFill>
                <a:latin typeface="Inter"/>
              </a:rPr>
              <a:t>Industry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560320" y="3191256"/>
            <a:ext cx="168249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Check fit with the target market.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71416" y="3191256"/>
            <a:ext cx="35021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Prioritise relevant B2B SaaS prospects.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621024"/>
            <a:ext cx="7516368" cy="466344"/>
          </a:xfrm>
          <a:prstGeom prst="rect">
            <a:avLst/>
          </a:prstGeom>
          <a:solidFill>
            <a:srgbClr val="EEEFE9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85800" y="3675887"/>
            <a:ext cx="1645919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171A20"/>
                </a:solidFill>
                <a:latin typeface="Inter"/>
              </a:rPr>
              <a:t>Decision-maker role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560320" y="3675887"/>
            <a:ext cx="168249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Confirm responsibility and relevance.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471416" y="3675887"/>
            <a:ext cx="35021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Contact a role plausibly connected to the need.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105656"/>
            <a:ext cx="7516368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5800" y="4160520"/>
            <a:ext cx="1645919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171A20"/>
                </a:solidFill>
                <a:latin typeface="Inter"/>
              </a:rPr>
              <a:t>Public business observation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560320" y="4160520"/>
            <a:ext cx="168249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Record a genuine, specific context.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471416" y="4160520"/>
            <a:ext cx="35021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Use one factual point; avoid assumed pain.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66928" y="4590288"/>
            <a:ext cx="7516368" cy="466344"/>
          </a:xfrm>
          <a:prstGeom prst="rect">
            <a:avLst/>
          </a:prstGeom>
          <a:solidFill>
            <a:srgbClr val="EEEFE9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5800" y="4645152"/>
            <a:ext cx="1645919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171A20"/>
                </a:solidFill>
                <a:latin typeface="Inter"/>
              </a:rPr>
              <a:t>Potential service fit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560320" y="4645152"/>
            <a:ext cx="168249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Connect the observation to a service.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471416" y="4645152"/>
            <a:ext cx="35021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Offer one focused, practical idea.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66928" y="5074920"/>
            <a:ext cx="7516368" cy="466344"/>
          </a:xfrm>
          <a:prstGeom prst="rect">
            <a:avLst/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" y="5129784"/>
            <a:ext cx="1645919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5" b="1" i="0">
                <a:solidFill>
                  <a:srgbClr val="171A20"/>
                </a:solidFill>
                <a:latin typeface="Inter"/>
              </a:rPr>
              <a:t>Source and date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560320" y="5129784"/>
            <a:ext cx="1682495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Save the URL and research date.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471416" y="5129784"/>
            <a:ext cx="3502152" cy="35661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00" b="0" i="0">
                <a:solidFill>
                  <a:srgbClr val="606671"/>
                </a:solidFill>
                <a:latin typeface="Inter"/>
              </a:rPr>
              <a:t>Make the research traceable and reviewable.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8302752" y="1719072"/>
            <a:ext cx="3310128" cy="3858768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549640" y="1965960"/>
            <a:ext cx="1618488" cy="256032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622792" y="1979676"/>
            <a:ext cx="14721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318"/>
                </a:solidFill>
                <a:latin typeface="Inter"/>
              </a:rPr>
              <a:t>ILLUSTRATIVE ONLY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2395728"/>
            <a:ext cx="278892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F7F6F2"/>
                </a:solidFill>
                <a:latin typeface="Inter"/>
              </a:rPr>
              <a:t>EXAMPLE SOFTWARE CO.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2926080"/>
            <a:ext cx="269748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C8FF45"/>
                </a:solidFill>
                <a:latin typeface="Inter"/>
              </a:rPr>
              <a:t>HYPOTHETICAL OBSERVATION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49640" y="3209544"/>
            <a:ext cx="2743200" cy="7223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F7F6F2"/>
                </a:solidFill>
                <a:latin typeface="Inter"/>
              </a:rPr>
              <a:t>The public website has a product overview page with limited explanatory copy in this fictional scenario.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8549640" y="4078224"/>
            <a:ext cx="2761488" cy="0"/>
          </a:xfrm>
          <a:prstGeom prst="line">
            <a:avLst/>
          </a:prstGeom>
          <a:ln w="10160">
            <a:solidFill>
              <a:srgbClr val="23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8549640" y="4288536"/>
            <a:ext cx="182880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60" b="1" i="0">
                <a:solidFill>
                  <a:srgbClr val="C8FF45"/>
                </a:solidFill>
                <a:latin typeface="Inter"/>
              </a:rPr>
              <a:t>POTENTIAL IDEA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553712"/>
            <a:ext cx="274320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F7F6F2"/>
                </a:solidFill>
                <a:latin typeface="Inter"/>
              </a:rPr>
              <a:t>Suggest clearer, benefit-focused website messaging.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49640" y="5184648"/>
            <a:ext cx="2724912" cy="228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7ABB2"/>
                </a:solidFill>
                <a:latin typeface="Inter"/>
              </a:rPr>
              <a:t>Not a real company audit. Verify all facts before outreach.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8302752" y="5715000"/>
            <a:ext cx="3310128" cy="384048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439912" y="5797296"/>
            <a:ext cx="3017520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647326"/>
                </a:solidFill>
                <a:latin typeface="Inter"/>
              </a:rPr>
              <a:t>SOURCE + DATE = ACCOUNTABILITY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C8FF45"/>
                </a:solidFill>
                <a:latin typeface="Inter"/>
              </a:rPr>
              <a:t>05 / OPERATING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F7F6F2"/>
                </a:solidFill>
                <a:latin typeface="Inter"/>
              </a:rPr>
              <a:t>Track the work. Do not invent the outcome.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978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A7ABB2"/>
                </a:solidFill>
                <a:latin typeface="Inter"/>
              </a:rPr>
              <a:t>Editable tracker structure with demonstration-only rows. Performance values remain blank until actual data exists.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23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A7ABB2"/>
                </a:solidFill>
                <a:latin typeface="Inter"/>
              </a:rPr>
              <a:t>SURESH YADAV  /  B2B LEAD GENERATION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74536"/>
            <a:ext cx="2468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A7ABB2"/>
                </a:solidFill>
                <a:latin typeface="Inter"/>
              </a:rPr>
              <a:t>FICTIONAL CONCEPT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6224" y="65653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A7ABB2"/>
                </a:solidFill>
                <a:latin typeface="Inter"/>
              </a:rPr>
              <a:t>06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76072" y="1609344"/>
            <a:ext cx="2075688" cy="256032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9224" y="1623060"/>
            <a:ext cx="19293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318"/>
                </a:solidFill>
                <a:latin typeface="Inter"/>
              </a:rPr>
              <a:t>DEMO DATA - NOT VERIFIED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984248"/>
            <a:ext cx="516816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80644" y="2039112"/>
            <a:ext cx="45280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Prospect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ID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65456" y="1984248"/>
            <a:ext cx="944183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460" y="2039112"/>
            <a:ext cx="880175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Company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Name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009639" y="1984248"/>
            <a:ext cx="824918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41643" y="2039112"/>
            <a:ext cx="76091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Target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Role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558" y="1984248"/>
            <a:ext cx="924306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66562" y="2039112"/>
            <a:ext cx="860298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Research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Source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758864" y="1984248"/>
            <a:ext cx="1411305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790868" y="2039112"/>
            <a:ext cx="134729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Personalisation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Note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170170" y="1984248"/>
            <a:ext cx="814979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02174" y="2039112"/>
            <a:ext cx="750971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Outreach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Channel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85149" y="1984248"/>
            <a:ext cx="904428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17153" y="2039112"/>
            <a:ext cx="84042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First Contact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Date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889577" y="1984248"/>
            <a:ext cx="824918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921581" y="2039112"/>
            <a:ext cx="760910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Follow-Up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Date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714496" y="1984248"/>
            <a:ext cx="1093265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46500" y="2039112"/>
            <a:ext cx="1029257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Outreach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Status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807761" y="1984248"/>
            <a:ext cx="874612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839765" y="2039112"/>
            <a:ext cx="810604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Reply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Status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682373" y="1984248"/>
            <a:ext cx="1073387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714377" y="2039112"/>
            <a:ext cx="1009379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Next 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755761" y="1984248"/>
            <a:ext cx="884550" cy="512064"/>
          </a:xfrm>
          <a:prstGeom prst="rect">
            <a:avLst/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787765" y="2039112"/>
            <a:ext cx="820542" cy="40233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Opt-Out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50" b="1" i="0">
                <a:solidFill>
                  <a:srgbClr val="111318"/>
                </a:solidFill>
                <a:latin typeface="Inter"/>
              </a:rPr>
              <a:t>Status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48640" y="2496312"/>
            <a:ext cx="516816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80644" y="2546604"/>
            <a:ext cx="45280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171A20"/>
                </a:solidFill>
                <a:latin typeface="Inter"/>
              </a:rPr>
              <a:t>D-001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65456" y="2496312"/>
            <a:ext cx="944183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097460" y="2546604"/>
            <a:ext cx="880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EXAMPLE SOFTWARE CO.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009639" y="2496312"/>
            <a:ext cx="824918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041643" y="2546604"/>
            <a:ext cx="76091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Founder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558" y="2496312"/>
            <a:ext cx="924306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66562" y="2546604"/>
            <a:ext cx="86029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To verify</a:t>
            </a:r>
          </a:p>
        </p:txBody>
      </p:sp>
      <p:sp>
        <p:nvSpPr>
          <p:cNvPr id="44" name="Rectangle 43"/>
          <p:cNvSpPr/>
          <p:nvPr/>
        </p:nvSpPr>
        <p:spPr>
          <a:xfrm>
            <a:off x="3758864" y="2496312"/>
            <a:ext cx="1411305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3790868" y="2546604"/>
            <a:ext cx="1347297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Hypothetical product-page copy gap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170170" y="2496312"/>
            <a:ext cx="814979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202174" y="2546604"/>
            <a:ext cx="75097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Email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985149" y="2496312"/>
            <a:ext cx="904428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017153" y="2546604"/>
            <a:ext cx="84042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sent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889577" y="2496312"/>
            <a:ext cx="824918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6921581" y="2546604"/>
            <a:ext cx="76091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scheduled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714496" y="2496312"/>
            <a:ext cx="1093265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746500" y="2546604"/>
            <a:ext cx="1029257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Research needed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807761" y="2496312"/>
            <a:ext cx="874612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839765" y="2546604"/>
            <a:ext cx="8106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sent</a:t>
            </a:r>
          </a:p>
        </p:txBody>
      </p:sp>
      <p:sp>
        <p:nvSpPr>
          <p:cNvPr id="56" name="Rectangle 55"/>
          <p:cNvSpPr/>
          <p:nvPr/>
        </p:nvSpPr>
        <p:spPr>
          <a:xfrm>
            <a:off x="9682373" y="2496312"/>
            <a:ext cx="1073387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714377" y="2546604"/>
            <a:ext cx="100937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Verify source</a:t>
            </a:r>
          </a:p>
        </p:txBody>
      </p:sp>
      <p:sp>
        <p:nvSpPr>
          <p:cNvPr id="58" name="Rectangle 57"/>
          <p:cNvSpPr/>
          <p:nvPr/>
        </p:nvSpPr>
        <p:spPr>
          <a:xfrm>
            <a:off x="10755761" y="2496312"/>
            <a:ext cx="884550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10787765" y="2546604"/>
            <a:ext cx="82054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contacted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48640" y="3063240"/>
            <a:ext cx="516816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80644" y="3113532"/>
            <a:ext cx="45280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171A20"/>
                </a:solidFill>
                <a:latin typeface="Inter"/>
              </a:rPr>
              <a:t>D-002</a:t>
            </a:r>
          </a:p>
        </p:txBody>
      </p:sp>
      <p:sp>
        <p:nvSpPr>
          <p:cNvPr id="62" name="Rectangle 61"/>
          <p:cNvSpPr/>
          <p:nvPr/>
        </p:nvSpPr>
        <p:spPr>
          <a:xfrm>
            <a:off x="1065456" y="3063240"/>
            <a:ext cx="944183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1097460" y="3113532"/>
            <a:ext cx="880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SAMPLE CLOUD APP</a:t>
            </a:r>
          </a:p>
        </p:txBody>
      </p:sp>
      <p:sp>
        <p:nvSpPr>
          <p:cNvPr id="64" name="Rectangle 63"/>
          <p:cNvSpPr/>
          <p:nvPr/>
        </p:nvSpPr>
        <p:spPr>
          <a:xfrm>
            <a:off x="2009639" y="3063240"/>
            <a:ext cx="824918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2041643" y="3113532"/>
            <a:ext cx="76091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Marketing Manager</a:t>
            </a:r>
          </a:p>
        </p:txBody>
      </p:sp>
      <p:sp>
        <p:nvSpPr>
          <p:cNvPr id="66" name="Rectangle 65"/>
          <p:cNvSpPr/>
          <p:nvPr/>
        </p:nvSpPr>
        <p:spPr>
          <a:xfrm>
            <a:off x="2834558" y="3063240"/>
            <a:ext cx="924306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2866562" y="3113532"/>
            <a:ext cx="86029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To verify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758864" y="3063240"/>
            <a:ext cx="1411305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3790868" y="3113532"/>
            <a:ext cx="1347297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Potential social-content consistency fit</a:t>
            </a:r>
          </a:p>
        </p:txBody>
      </p:sp>
      <p:sp>
        <p:nvSpPr>
          <p:cNvPr id="70" name="Rectangle 69"/>
          <p:cNvSpPr/>
          <p:nvPr/>
        </p:nvSpPr>
        <p:spPr>
          <a:xfrm>
            <a:off x="5170170" y="3063240"/>
            <a:ext cx="814979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5202174" y="3113532"/>
            <a:ext cx="75097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LinkedIn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5985149" y="3063240"/>
            <a:ext cx="904428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6017153" y="3113532"/>
            <a:ext cx="84042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sent</a:t>
            </a:r>
          </a:p>
        </p:txBody>
      </p:sp>
      <p:sp>
        <p:nvSpPr>
          <p:cNvPr id="74" name="Rectangle 73"/>
          <p:cNvSpPr/>
          <p:nvPr/>
        </p:nvSpPr>
        <p:spPr>
          <a:xfrm>
            <a:off x="6889577" y="3063240"/>
            <a:ext cx="824918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6921581" y="3113532"/>
            <a:ext cx="76091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scheduled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714496" y="3063240"/>
            <a:ext cx="1093265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746500" y="3113532"/>
            <a:ext cx="1029257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Ready for review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807761" y="3063240"/>
            <a:ext cx="874612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839765" y="3113532"/>
            <a:ext cx="8106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sent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682373" y="3063240"/>
            <a:ext cx="1073387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714377" y="3113532"/>
            <a:ext cx="100937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Review role fit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755761" y="3063240"/>
            <a:ext cx="884550" cy="566928"/>
          </a:xfrm>
          <a:prstGeom prst="rect">
            <a:avLst/>
          </a:prstGeom>
          <a:solidFill>
            <a:srgbClr val="E9EAE4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787765" y="3113532"/>
            <a:ext cx="82054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contacted</a:t>
            </a:r>
          </a:p>
        </p:txBody>
      </p:sp>
      <p:sp>
        <p:nvSpPr>
          <p:cNvPr id="84" name="Rectangle 83"/>
          <p:cNvSpPr/>
          <p:nvPr/>
        </p:nvSpPr>
        <p:spPr>
          <a:xfrm>
            <a:off x="548640" y="3630168"/>
            <a:ext cx="516816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80644" y="3680459"/>
            <a:ext cx="45280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1" i="0">
                <a:solidFill>
                  <a:srgbClr val="171A20"/>
                </a:solidFill>
                <a:latin typeface="Inter"/>
              </a:rPr>
              <a:t>D-003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065456" y="3630168"/>
            <a:ext cx="944183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1097460" y="3680459"/>
            <a:ext cx="880175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DEMO SAAS LAB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009639" y="3630168"/>
            <a:ext cx="824918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041643" y="3680459"/>
            <a:ext cx="76091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Head of Marketing</a:t>
            </a:r>
          </a:p>
        </p:txBody>
      </p:sp>
      <p:sp>
        <p:nvSpPr>
          <p:cNvPr id="90" name="Rectangle 89"/>
          <p:cNvSpPr/>
          <p:nvPr/>
        </p:nvSpPr>
        <p:spPr>
          <a:xfrm>
            <a:off x="2834558" y="3630168"/>
            <a:ext cx="924306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2866562" y="3680459"/>
            <a:ext cx="860298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To verify</a:t>
            </a:r>
          </a:p>
        </p:txBody>
      </p:sp>
      <p:sp>
        <p:nvSpPr>
          <p:cNvPr id="92" name="Rectangle 91"/>
          <p:cNvSpPr/>
          <p:nvPr/>
        </p:nvSpPr>
        <p:spPr>
          <a:xfrm>
            <a:off x="3758864" y="3630168"/>
            <a:ext cx="1411305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3790868" y="3680459"/>
            <a:ext cx="1347297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 verified observation entered yet</a:t>
            </a:r>
          </a:p>
        </p:txBody>
      </p:sp>
      <p:sp>
        <p:nvSpPr>
          <p:cNvPr id="94" name="Rectangle 93"/>
          <p:cNvSpPr/>
          <p:nvPr/>
        </p:nvSpPr>
        <p:spPr>
          <a:xfrm>
            <a:off x="5170170" y="3630168"/>
            <a:ext cx="814979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5202174" y="3680459"/>
            <a:ext cx="750971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Email</a:t>
            </a:r>
          </a:p>
        </p:txBody>
      </p:sp>
      <p:sp>
        <p:nvSpPr>
          <p:cNvPr id="96" name="Rectangle 95"/>
          <p:cNvSpPr/>
          <p:nvPr/>
        </p:nvSpPr>
        <p:spPr>
          <a:xfrm>
            <a:off x="5985149" y="3630168"/>
            <a:ext cx="904428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6017153" y="3680459"/>
            <a:ext cx="84042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sent</a:t>
            </a:r>
          </a:p>
        </p:txBody>
      </p:sp>
      <p:sp>
        <p:nvSpPr>
          <p:cNvPr id="98" name="Rectangle 97"/>
          <p:cNvSpPr/>
          <p:nvPr/>
        </p:nvSpPr>
        <p:spPr>
          <a:xfrm>
            <a:off x="6889577" y="3630168"/>
            <a:ext cx="824918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6921581" y="3680459"/>
            <a:ext cx="760910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scheduled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7714496" y="3630168"/>
            <a:ext cx="1093265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TextBox 100"/>
          <p:cNvSpPr txBox="1"/>
          <p:nvPr/>
        </p:nvSpPr>
        <p:spPr>
          <a:xfrm>
            <a:off x="7746500" y="3680459"/>
            <a:ext cx="1029257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Research needed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8807761" y="3630168"/>
            <a:ext cx="874612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TextBox 102"/>
          <p:cNvSpPr txBox="1"/>
          <p:nvPr/>
        </p:nvSpPr>
        <p:spPr>
          <a:xfrm>
            <a:off x="8839765" y="3680459"/>
            <a:ext cx="810604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sent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9682373" y="3630168"/>
            <a:ext cx="1073387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TextBox 104"/>
          <p:cNvSpPr txBox="1"/>
          <p:nvPr/>
        </p:nvSpPr>
        <p:spPr>
          <a:xfrm>
            <a:off x="9714377" y="3680459"/>
            <a:ext cx="1009379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Research first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0755761" y="3630168"/>
            <a:ext cx="884550" cy="566928"/>
          </a:xfrm>
          <a:prstGeom prst="rect">
            <a:avLst/>
          </a:prstGeom>
          <a:solidFill>
            <a:srgbClr val="F7F6F2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TextBox 106"/>
          <p:cNvSpPr txBox="1"/>
          <p:nvPr/>
        </p:nvSpPr>
        <p:spPr>
          <a:xfrm>
            <a:off x="10787765" y="3680459"/>
            <a:ext cx="820542" cy="46634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20" b="0" i="0">
                <a:solidFill>
                  <a:srgbClr val="171A20"/>
                </a:solidFill>
                <a:latin typeface="Inter"/>
              </a:rPr>
              <a:t>Not contacted</a:t>
            </a:r>
          </a:p>
        </p:txBody>
      </p:sp>
      <p:sp>
        <p:nvSpPr>
          <p:cNvPr id="108" name="Rounded Rectangle 107"/>
          <p:cNvSpPr/>
          <p:nvPr/>
        </p:nvSpPr>
        <p:spPr>
          <a:xfrm>
            <a:off x="566928" y="4325112"/>
            <a:ext cx="11045952" cy="365760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TextBox 108"/>
          <p:cNvSpPr txBox="1"/>
          <p:nvPr/>
        </p:nvSpPr>
        <p:spPr>
          <a:xfrm>
            <a:off x="758952" y="4407408"/>
            <a:ext cx="10661904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80" b="0" i="0">
                <a:solidFill>
                  <a:srgbClr val="A7ABB2"/>
                </a:solidFill>
                <a:latin typeface="Inter"/>
              </a:rPr>
              <a:t>No one has been contacted. Sample names, notes and workflow statuses are fictional placeholders for spreadsheet demonstration.</a:t>
            </a:r>
          </a:p>
        </p:txBody>
      </p:sp>
      <p:sp>
        <p:nvSpPr>
          <p:cNvPr id="110" name="Rounded Rectangle 109"/>
          <p:cNvSpPr/>
          <p:nvPr/>
        </p:nvSpPr>
        <p:spPr>
          <a:xfrm>
            <a:off x="566928" y="4937760"/>
            <a:ext cx="2112264" cy="1170432"/>
          </a:xfrm>
          <a:prstGeom prst="roundRect">
            <a:avLst>
              <a:gd name="adj" fmla="val 12000"/>
            </a:avLst>
          </a:prstGeom>
          <a:solidFill>
            <a:srgbClr val="1A1D24"/>
          </a:solidFill>
          <a:ln w="10160">
            <a:solidFill>
              <a:srgbClr val="23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TextBox 110"/>
          <p:cNvSpPr txBox="1"/>
          <p:nvPr/>
        </p:nvSpPr>
        <p:spPr>
          <a:xfrm>
            <a:off x="722376" y="5148072"/>
            <a:ext cx="1801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A7ABB2"/>
                </a:solidFill>
                <a:latin typeface="Inter"/>
              </a:rPr>
              <a:t>PROSPECTS RESEARCHED</a:t>
            </a:r>
          </a:p>
        </p:txBody>
      </p:sp>
      <p:sp>
        <p:nvSpPr>
          <p:cNvPr id="112" name="TextBox 111"/>
          <p:cNvSpPr txBox="1"/>
          <p:nvPr/>
        </p:nvSpPr>
        <p:spPr>
          <a:xfrm>
            <a:off x="722376" y="5541264"/>
            <a:ext cx="1801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8FF45"/>
                </a:solidFill>
                <a:latin typeface="Inter"/>
              </a:rPr>
              <a:t>[Enter actual data]</a:t>
            </a:r>
          </a:p>
        </p:txBody>
      </p:sp>
      <p:sp>
        <p:nvSpPr>
          <p:cNvPr id="113" name="Rounded Rectangle 112"/>
          <p:cNvSpPr/>
          <p:nvPr/>
        </p:nvSpPr>
        <p:spPr>
          <a:xfrm>
            <a:off x="2793492" y="4937760"/>
            <a:ext cx="2112264" cy="1170432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 w="10160">
            <a:solidFill>
              <a:srgbClr val="23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TextBox 113"/>
          <p:cNvSpPr txBox="1"/>
          <p:nvPr/>
        </p:nvSpPr>
        <p:spPr>
          <a:xfrm>
            <a:off x="2948940" y="5148072"/>
            <a:ext cx="1801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A7ABB2"/>
                </a:solidFill>
                <a:latin typeface="Inter"/>
              </a:rPr>
              <a:t>MESSAGES SENT</a:t>
            </a:r>
          </a:p>
        </p:txBody>
      </p:sp>
      <p:sp>
        <p:nvSpPr>
          <p:cNvPr id="115" name="TextBox 114"/>
          <p:cNvSpPr txBox="1"/>
          <p:nvPr/>
        </p:nvSpPr>
        <p:spPr>
          <a:xfrm>
            <a:off x="2948940" y="5541264"/>
            <a:ext cx="1801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8FF45"/>
                </a:solidFill>
                <a:latin typeface="Inter"/>
              </a:rPr>
              <a:t>[Enter actual data]</a:t>
            </a:r>
          </a:p>
        </p:txBody>
      </p:sp>
      <p:sp>
        <p:nvSpPr>
          <p:cNvPr id="116" name="Rounded Rectangle 115"/>
          <p:cNvSpPr/>
          <p:nvPr/>
        </p:nvSpPr>
        <p:spPr>
          <a:xfrm>
            <a:off x="5020056" y="4937760"/>
            <a:ext cx="2112264" cy="1170432"/>
          </a:xfrm>
          <a:prstGeom prst="roundRect">
            <a:avLst>
              <a:gd name="adj" fmla="val 12000"/>
            </a:avLst>
          </a:prstGeom>
          <a:solidFill>
            <a:srgbClr val="1A1D24"/>
          </a:solidFill>
          <a:ln w="10160">
            <a:solidFill>
              <a:srgbClr val="23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TextBox 116"/>
          <p:cNvSpPr txBox="1"/>
          <p:nvPr/>
        </p:nvSpPr>
        <p:spPr>
          <a:xfrm>
            <a:off x="5175504" y="5148072"/>
            <a:ext cx="1801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A7ABB2"/>
                </a:solidFill>
                <a:latin typeface="Inter"/>
              </a:rPr>
              <a:t>REPLIES RECEIVED</a:t>
            </a:r>
          </a:p>
        </p:txBody>
      </p:sp>
      <p:sp>
        <p:nvSpPr>
          <p:cNvPr id="118" name="TextBox 117"/>
          <p:cNvSpPr txBox="1"/>
          <p:nvPr/>
        </p:nvSpPr>
        <p:spPr>
          <a:xfrm>
            <a:off x="5175504" y="5541264"/>
            <a:ext cx="1801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8FF45"/>
                </a:solidFill>
                <a:latin typeface="Inter"/>
              </a:rPr>
              <a:t>[Enter actual data]</a:t>
            </a:r>
          </a:p>
        </p:txBody>
      </p:sp>
      <p:sp>
        <p:nvSpPr>
          <p:cNvPr id="119" name="Rounded Rectangle 118"/>
          <p:cNvSpPr/>
          <p:nvPr/>
        </p:nvSpPr>
        <p:spPr>
          <a:xfrm>
            <a:off x="7246620" y="4937760"/>
            <a:ext cx="2112264" cy="1170432"/>
          </a:xfrm>
          <a:prstGeom prst="roundRect">
            <a:avLst>
              <a:gd name="adj" fmla="val 12000"/>
            </a:avLst>
          </a:prstGeom>
          <a:solidFill>
            <a:srgbClr val="232730"/>
          </a:solidFill>
          <a:ln w="10160">
            <a:solidFill>
              <a:srgbClr val="23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7402068" y="5148072"/>
            <a:ext cx="1801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A7ABB2"/>
                </a:solidFill>
                <a:latin typeface="Inter"/>
              </a:rPr>
              <a:t>POSITIVE RESPONSES</a:t>
            </a:r>
          </a:p>
        </p:txBody>
      </p:sp>
      <p:sp>
        <p:nvSpPr>
          <p:cNvPr id="121" name="TextBox 120"/>
          <p:cNvSpPr txBox="1"/>
          <p:nvPr/>
        </p:nvSpPr>
        <p:spPr>
          <a:xfrm>
            <a:off x="7402068" y="5541264"/>
            <a:ext cx="1801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8FF45"/>
                </a:solidFill>
                <a:latin typeface="Inter"/>
              </a:rPr>
              <a:t>[Enter actual data]</a:t>
            </a:r>
          </a:p>
        </p:txBody>
      </p:sp>
      <p:sp>
        <p:nvSpPr>
          <p:cNvPr id="122" name="Rounded Rectangle 121"/>
          <p:cNvSpPr/>
          <p:nvPr/>
        </p:nvSpPr>
        <p:spPr>
          <a:xfrm>
            <a:off x="9473184" y="4937760"/>
            <a:ext cx="2112264" cy="1170432"/>
          </a:xfrm>
          <a:prstGeom prst="roundRect">
            <a:avLst>
              <a:gd name="adj" fmla="val 12000"/>
            </a:avLst>
          </a:prstGeom>
          <a:solidFill>
            <a:srgbClr val="1A1D24"/>
          </a:solidFill>
          <a:ln w="10160">
            <a:solidFill>
              <a:srgbClr val="2327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TextBox 122"/>
          <p:cNvSpPr txBox="1"/>
          <p:nvPr/>
        </p:nvSpPr>
        <p:spPr>
          <a:xfrm>
            <a:off x="9628632" y="5148072"/>
            <a:ext cx="1801368" cy="18288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A7ABB2"/>
                </a:solidFill>
                <a:latin typeface="Inter"/>
              </a:rPr>
              <a:t>MEETINGS BOOKED</a:t>
            </a:r>
          </a:p>
        </p:txBody>
      </p:sp>
      <p:sp>
        <p:nvSpPr>
          <p:cNvPr id="124" name="TextBox 123"/>
          <p:cNvSpPr txBox="1"/>
          <p:nvPr/>
        </p:nvSpPr>
        <p:spPr>
          <a:xfrm>
            <a:off x="9628632" y="5541264"/>
            <a:ext cx="1801368" cy="310896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1" i="0">
                <a:solidFill>
                  <a:srgbClr val="C8FF45"/>
                </a:solidFill>
                <a:latin typeface="Inter"/>
              </a:rPr>
              <a:t>[Enter actual data]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7F6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38328"/>
            <a:ext cx="7132320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30" b="1" i="0">
                <a:solidFill>
                  <a:srgbClr val="647326"/>
                </a:solidFill>
                <a:latin typeface="Inter"/>
              </a:rPr>
              <a:t>06 / QUALITY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58368"/>
            <a:ext cx="11018520" cy="47548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171A20"/>
                </a:solidFill>
                <a:latin typeface="Inter"/>
              </a:rPr>
              <a:t>Personalised. Relevant. Respectful.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197864"/>
            <a:ext cx="10881360" cy="32918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40" b="0" i="0">
                <a:solidFill>
                  <a:srgbClr val="777D87"/>
                </a:solidFill>
                <a:latin typeface="Inter"/>
              </a:rPr>
              <a:t>The system should make good judgement repeatable, not replace it.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02920" y="6510528"/>
            <a:ext cx="11183112" cy="0"/>
          </a:xfrm>
          <a:prstGeom prst="line">
            <a:avLst/>
          </a:prstGeom>
          <a:ln w="8890">
            <a:solidFill>
              <a:srgbClr val="D8D9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30352" y="6574536"/>
            <a:ext cx="685800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30" b="1" i="0">
                <a:solidFill>
                  <a:srgbClr val="777D87"/>
                </a:solidFill>
                <a:latin typeface="Inter"/>
              </a:rPr>
              <a:t>SURESH YADAV  /  B2B LEAD GENERATION PORTFOLIO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21040" y="6574536"/>
            <a:ext cx="2468880" cy="15544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20" b="0" i="0">
                <a:solidFill>
                  <a:srgbClr val="777D87"/>
                </a:solidFill>
                <a:latin typeface="Inter"/>
              </a:rPr>
              <a:t>FICTIONAL CONCEPT PROJECT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36224" y="6565392"/>
            <a:ext cx="731520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740" b="1" i="0">
                <a:solidFill>
                  <a:srgbClr val="777D87"/>
                </a:solidFill>
                <a:latin typeface="Inter"/>
              </a:rPr>
              <a:t>07 / 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1764792"/>
            <a:ext cx="3246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04088" y="193852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" y="2011680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47326"/>
                </a:solidFill>
                <a:latin typeface="Inter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7007" y="1911095"/>
            <a:ext cx="2404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20"/>
                </a:solidFill>
                <a:latin typeface="Inter"/>
              </a:rPr>
              <a:t>Research before outreach.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096511" y="1764792"/>
            <a:ext cx="3246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233672" y="1938528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270248" y="2011680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47326"/>
                </a:solidFill>
                <a:latin typeface="Inter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1911095"/>
            <a:ext cx="2404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20"/>
                </a:solidFill>
                <a:latin typeface="Inter"/>
              </a:rPr>
              <a:t>Use accurate personalisation.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2706624"/>
            <a:ext cx="3246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04088" y="288036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0664" y="2953512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47326"/>
                </a:solidFill>
                <a:latin typeface="Inter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07007" y="2852928"/>
            <a:ext cx="2404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20"/>
                </a:solidFill>
                <a:latin typeface="Inter"/>
              </a:rPr>
              <a:t>Make a clear, relevant offer.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096511" y="2706624"/>
            <a:ext cx="3246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4233672" y="2880360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270248" y="2953512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47326"/>
                </a:solidFill>
                <a:latin typeface="Inter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36592" y="2852928"/>
            <a:ext cx="2404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20"/>
                </a:solidFill>
                <a:latin typeface="Inter"/>
              </a:rPr>
              <a:t>Keep messages concise.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3648456"/>
            <a:ext cx="3246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704088" y="382219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40664" y="389534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47326"/>
                </a:solidFill>
                <a:latin typeface="Inter"/>
              </a:rP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207007" y="3794760"/>
            <a:ext cx="2404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20"/>
                </a:solidFill>
                <a:latin typeface="Inter"/>
              </a:rPr>
              <a:t>Track history and outcomes.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096511" y="3648456"/>
            <a:ext cx="3246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4233672" y="3822192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270248" y="3895344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47326"/>
                </a:solidFill>
                <a:latin typeface="Inter"/>
              </a:rP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36592" y="3794760"/>
            <a:ext cx="2404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20"/>
                </a:solidFill>
                <a:latin typeface="Inter"/>
              </a:rPr>
              <a:t>Respect opt-outs immediately.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66928" y="4590288"/>
            <a:ext cx="3246120" cy="7315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0160">
            <a:solidFill>
              <a:srgbClr val="D8D9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04088" y="4764024"/>
            <a:ext cx="365760" cy="365760"/>
          </a:xfrm>
          <a:prstGeom prst="roundRect">
            <a:avLst>
              <a:gd name="adj" fmla="val 12000"/>
            </a:avLst>
          </a:prstGeom>
          <a:solidFill>
            <a:srgbClr val="EAF7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0664" y="4837175"/>
            <a:ext cx="292608" cy="1645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750" b="1" i="0">
                <a:solidFill>
                  <a:srgbClr val="647326"/>
                </a:solidFill>
                <a:latin typeface="Inter"/>
              </a:rPr>
              <a:t>07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207007" y="4736592"/>
            <a:ext cx="2404872" cy="420624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19" b="1" i="0">
                <a:solidFill>
                  <a:srgbClr val="171A20"/>
                </a:solidFill>
                <a:latin typeface="Inter"/>
              </a:rPr>
              <a:t>Follow applicable privacy, anti-spam and platform rules.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909560" y="1764792"/>
            <a:ext cx="3703320" cy="4553712"/>
          </a:xfrm>
          <a:prstGeom prst="roundRect">
            <a:avLst>
              <a:gd name="adj" fmla="val 12000"/>
            </a:avLst>
          </a:prstGeom>
          <a:solidFill>
            <a:srgbClr val="1113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8211312" y="2066543"/>
            <a:ext cx="1847088" cy="256032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8284464" y="2080260"/>
            <a:ext cx="1700784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20" b="1" i="0">
                <a:solidFill>
                  <a:srgbClr val="111318"/>
                </a:solidFill>
                <a:latin typeface="Inter"/>
              </a:rPr>
              <a:t>THE OPERATING PRINCIPLE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11312" y="2779776"/>
            <a:ext cx="294436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6F2"/>
                </a:solidFill>
                <a:latin typeface="Inter"/>
              </a:rPr>
              <a:t>GOOD OUTREACH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11312" y="3246120"/>
            <a:ext cx="2852928" cy="39319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1" i="0">
                <a:solidFill>
                  <a:srgbClr val="F7F6F2"/>
                </a:solidFill>
                <a:latin typeface="Inter"/>
              </a:rPr>
              <a:t>IS BUILT ON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11312" y="3730752"/>
            <a:ext cx="287121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8FF45"/>
                </a:solidFill>
                <a:latin typeface="Inter"/>
              </a:rPr>
              <a:t>RELEVANCE,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211312" y="4242816"/>
            <a:ext cx="2926080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400" b="1" i="0">
                <a:solidFill>
                  <a:srgbClr val="C8FF45"/>
                </a:solidFill>
                <a:latin typeface="Inter"/>
              </a:rPr>
              <a:t>NOT VOLUME.</a:t>
            </a:r>
          </a:p>
        </p:txBody>
      </p:sp>
      <p:cxnSp>
        <p:nvCxnSpPr>
          <p:cNvPr id="45" name="Connector 44"/>
          <p:cNvCxnSpPr/>
          <p:nvPr/>
        </p:nvCxnSpPr>
        <p:spPr>
          <a:xfrm>
            <a:off x="8211312" y="4892040"/>
            <a:ext cx="3035808" cy="0"/>
          </a:xfrm>
          <a:prstGeom prst="line">
            <a:avLst/>
          </a:prstGeom>
          <a:ln w="11430">
            <a:solidFill>
              <a:srgbClr val="23273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TextBox 45"/>
          <p:cNvSpPr txBox="1"/>
          <p:nvPr/>
        </p:nvSpPr>
        <p:spPr>
          <a:xfrm>
            <a:off x="8211312" y="5129784"/>
            <a:ext cx="3035808" cy="8321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A7ABB2"/>
                </a:solidFill>
                <a:latin typeface="Inter"/>
              </a:rPr>
              <a:t>NORTHFRAME STUDIO is fictional. This concept demonstrates outreach copy and prospect research workflow only. No real campaign or performance results are claimed.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5769864"/>
            <a:ext cx="7059168" cy="411480"/>
          </a:xfrm>
          <a:prstGeom prst="roundRect">
            <a:avLst>
              <a:gd name="adj" fmla="val 12000"/>
            </a:avLst>
          </a:prstGeom>
          <a:solidFill>
            <a:srgbClr val="C8FF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77240" y="5870448"/>
            <a:ext cx="6656832" cy="201168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10" b="1" i="0">
                <a:solidFill>
                  <a:srgbClr val="111318"/>
                </a:solidFill>
                <a:latin typeface="Inter"/>
              </a:rPr>
              <a:t>NORTHFRAME STUDIO  /  B2B COLD EMAIL + LINKEDIN FRAMEWORK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B2B Cold Email &amp; LinkedIn Outreach Framework</dc:title>
  <dc:subject>B2B lead generation portfolio case study - fictional concept project</dc:subject>
  <dc:creator>Suresh Yadav</dc:creator>
  <cp:keywords>B2B, prospect research, outreach, cold email, LinkedIn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