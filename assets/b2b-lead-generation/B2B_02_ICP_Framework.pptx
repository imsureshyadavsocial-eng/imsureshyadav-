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7620">
            <a:solidFill>
              <a:srgbClr val="D9DB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6519672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777D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NORTHFRAME STUDIO  /  B2B LEAD GENERATION PORTFOLIO</a:t>
            </a:r>
            <a:endParaRPr lang="en-US" sz="770" dirty="0"/>
          </a:p>
        </p:txBody>
      </p:sp>
      <p:sp>
        <p:nvSpPr>
          <p:cNvPr id="4" name="Text 2"/>
          <p:cNvSpPr/>
          <p:nvPr/>
        </p:nvSpPr>
        <p:spPr>
          <a:xfrm>
            <a:off x="8961120" y="6519672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dirty="0">
                <a:solidFill>
                  <a:srgbClr val="777D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CONCEPT PROJECT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D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D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>
              <a:gd name="adj" fmla="val 1067"/>
            </a:avLst>
          </a:prstGeom>
          <a:solidFill>
            <a:srgbClr val="111318"/>
          </a:solidFill>
          <a:ln w="12700">
            <a:solidFill>
              <a:srgbClr val="1113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>
              <a:gd name="adj" fmla="val 50000"/>
            </a:avLst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120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spc="110" kern="0" dirty="0">
                <a:solidFill>
                  <a:srgbClr val="F7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NORTHFRAME STUDIO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22376" y="85953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spc="80" kern="0" dirty="0">
                <a:solidFill>
                  <a:srgbClr val="777D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B2B LEAD GENERATION PORTFOLIO  /  PROJECT 02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722376" y="1408176"/>
            <a:ext cx="658368" cy="73152"/>
          </a:xfrm>
          <a:prstGeom prst="rect">
            <a:avLst>
              <a:gd name="adj" fmla="val 100000"/>
            </a:avLst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1673352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00" b="1" dirty="0">
                <a:solidFill>
                  <a:srgbClr val="F7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 THE RIGHT</a:t>
            </a:r>
            <a:endParaRPr lang="en-US" sz="4900" dirty="0"/>
          </a:p>
          <a:p>
            <a:pPr algn="l" indent="0" marL="0">
              <a:buNone/>
            </a:pPr>
            <a:r>
              <a:rPr lang="en-US" sz="4900" b="1" dirty="0">
                <a:solidFill>
                  <a:srgbClr val="F7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CUSTOMERS.</a:t>
            </a:r>
            <a:endParaRPr lang="en-US" sz="49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584448"/>
            <a:ext cx="9692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C8F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Customer Profile &amp; Prospect Qualification Framework</a:t>
            </a:r>
            <a:endParaRPr lang="en-US" sz="20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4169664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7CB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practical, evidence-led framework for identifying small B2B SaaS companies that may benefit from creative marketing support.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49808" y="5074920"/>
            <a:ext cx="10744200" cy="0"/>
          </a:xfrm>
          <a:prstGeom prst="line">
            <a:avLst/>
          </a:prstGeom>
          <a:noFill/>
          <a:ln w="12700">
            <a:solidFill>
              <a:srgbClr val="3035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53218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NORTHFRAME STUDIO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56418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B8BD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B2B Lead Generation Portfolio</a:t>
            </a:r>
            <a:endParaRPr lang="en-US" sz="114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59801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B8BD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by: Suresh Yadav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8686800" y="5916168"/>
            <a:ext cx="2542032" cy="256032"/>
          </a:xfrm>
          <a:prstGeom prst="roundRect">
            <a:avLst>
              <a:gd name="adj" fmla="val 28571"/>
            </a:avLst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78240" y="5929884"/>
            <a:ext cx="2359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60" kern="0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CONCEPT PROJECT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8257032" y="56692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spc="70" kern="0" dirty="0">
                <a:solidFill>
                  <a:srgbClr val="777D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ICP + QUALIFICATION</a:t>
            </a:r>
            <a:endParaRPr lang="en-US" sz="9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329184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342900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60" kern="0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ICP DESIGN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694944"/>
            <a:ext cx="10972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11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IDEAL CUSTOMER PROFILE</a:t>
            </a:r>
            <a:endParaRPr lang="en-US" sz="2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97864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target profile for a small creative-services provider serving B2B SaaS teams.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1792" y="1691640"/>
            <a:ext cx="4709160" cy="4416552"/>
          </a:xfrm>
          <a:prstGeom prst="roundRect">
            <a:avLst>
              <a:gd name="adj" fmla="val 1656"/>
            </a:avLst>
          </a:prstGeom>
          <a:solidFill>
            <a:srgbClr val="111318"/>
          </a:solidFill>
          <a:ln w="12700">
            <a:solidFill>
              <a:srgbClr val="11131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1911096"/>
            <a:ext cx="1965960" cy="256032"/>
          </a:xfrm>
          <a:prstGeom prst="roundRect">
            <a:avLst>
              <a:gd name="adj" fmla="val 28571"/>
            </a:avLst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1924812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60" kern="0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FIRMOGRAPHICS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441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90" kern="0" dirty="0">
                <a:solidFill>
                  <a:srgbClr val="777D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</a:t>
            </a:r>
            <a:endParaRPr lang="en-US" sz="87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670048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10" b="1" dirty="0">
                <a:solidFill>
                  <a:srgbClr val="F7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B2B SaaS and business software</a:t>
            </a:r>
            <a:endParaRPr lang="en-US" sz="1510" dirty="0"/>
          </a:p>
        </p:txBody>
      </p:sp>
      <p:sp>
        <p:nvSpPr>
          <p:cNvPr id="11" name="Shape 9"/>
          <p:cNvSpPr/>
          <p:nvPr/>
        </p:nvSpPr>
        <p:spPr>
          <a:xfrm>
            <a:off x="896112" y="3136392"/>
            <a:ext cx="4114800" cy="0"/>
          </a:xfrm>
          <a:prstGeom prst="line">
            <a:avLst/>
          </a:prstGeom>
          <a:noFill/>
          <a:ln w="10160">
            <a:solidFill>
              <a:srgbClr val="3035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32735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90" kern="0" dirty="0">
                <a:solidFill>
                  <a:srgbClr val="777D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</a:t>
            </a:r>
            <a:endParaRPr lang="en-US" sz="87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3502152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10" b="1" dirty="0">
                <a:solidFill>
                  <a:srgbClr val="F7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Early-stage and growing small businesses</a:t>
            </a:r>
            <a:endParaRPr lang="en-US" sz="1510" dirty="0"/>
          </a:p>
        </p:txBody>
      </p:sp>
      <p:sp>
        <p:nvSpPr>
          <p:cNvPr id="14" name="Shape 12"/>
          <p:cNvSpPr/>
          <p:nvPr/>
        </p:nvSpPr>
        <p:spPr>
          <a:xfrm>
            <a:off x="896112" y="3968496"/>
            <a:ext cx="4114800" cy="0"/>
          </a:xfrm>
          <a:prstGeom prst="line">
            <a:avLst/>
          </a:prstGeom>
          <a:noFill/>
          <a:ln w="10160">
            <a:solidFill>
              <a:srgbClr val="3035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" y="41056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90" kern="0" dirty="0">
                <a:solidFill>
                  <a:srgbClr val="777D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</a:t>
            </a:r>
            <a:endParaRPr lang="en-US" sz="87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4334256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10" b="1" dirty="0">
                <a:solidFill>
                  <a:srgbClr val="F7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5–50 employees (illustrative range)</a:t>
            </a:r>
            <a:endParaRPr lang="en-US" sz="1510" dirty="0"/>
          </a:p>
        </p:txBody>
      </p:sp>
      <p:sp>
        <p:nvSpPr>
          <p:cNvPr id="17" name="Shape 15"/>
          <p:cNvSpPr/>
          <p:nvPr/>
        </p:nvSpPr>
        <p:spPr>
          <a:xfrm>
            <a:off x="896112" y="4800600"/>
            <a:ext cx="4114800" cy="0"/>
          </a:xfrm>
          <a:prstGeom prst="line">
            <a:avLst/>
          </a:prstGeom>
          <a:noFill/>
          <a:ln w="10160">
            <a:solidFill>
              <a:srgbClr val="30354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6112" y="4937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90" kern="0" dirty="0">
                <a:solidFill>
                  <a:srgbClr val="777D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MARKETS</a:t>
            </a:r>
            <a:endParaRPr lang="en-US" sz="87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5166360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10" b="1" dirty="0">
                <a:solidFill>
                  <a:srgbClr val="F7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English-speaking markets, subject to delivery capability</a:t>
            </a:r>
            <a:endParaRPr lang="en-US" sz="1510" dirty="0"/>
          </a:p>
        </p:txBody>
      </p:sp>
      <p:sp>
        <p:nvSpPr>
          <p:cNvPr id="20" name="Shape 18"/>
          <p:cNvSpPr/>
          <p:nvPr/>
        </p:nvSpPr>
        <p:spPr>
          <a:xfrm>
            <a:off x="5596128" y="1691640"/>
            <a:ext cx="285292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D9DB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43016" y="19293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777D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DECISION-MAKER ROLES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52160" y="2368296"/>
            <a:ext cx="91440" cy="91440"/>
          </a:xfrm>
          <a:prstGeom prst="ellipse">
            <a:avLst/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226771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719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5852160" y="2697480"/>
            <a:ext cx="91440" cy="91440"/>
          </a:xfrm>
          <a:prstGeom prst="ellipse">
            <a:avLst/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53328" y="259689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719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Co-Founder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5852160" y="3026664"/>
            <a:ext cx="91440" cy="91440"/>
          </a:xfrm>
          <a:prstGeom prst="ellipse">
            <a:avLst/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53328" y="292608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719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CEO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5852160" y="3355848"/>
            <a:ext cx="91440" cy="91440"/>
          </a:xfrm>
          <a:prstGeom prst="ellipse">
            <a:avLst/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53328" y="3255264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719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 of Marketing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5852160" y="3685032"/>
            <a:ext cx="91440" cy="91440"/>
          </a:xfrm>
          <a:prstGeom prst="ellipse">
            <a:avLst/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53328" y="358444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719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Manager</a:t>
            </a:r>
            <a:endParaRPr lang="en-US" sz="1130" dirty="0"/>
          </a:p>
        </p:txBody>
      </p:sp>
      <p:sp>
        <p:nvSpPr>
          <p:cNvPr id="32" name="Shape 30"/>
          <p:cNvSpPr/>
          <p:nvPr/>
        </p:nvSpPr>
        <p:spPr>
          <a:xfrm>
            <a:off x="8659368" y="1691640"/>
            <a:ext cx="288950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D9DBD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06256" y="192938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777D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NEEDS TO INVESTIGATE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906256" y="2350008"/>
            <a:ext cx="91440" cy="91440"/>
          </a:xfrm>
          <a:prstGeom prst="ellipse">
            <a:avLst/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07424" y="2249424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719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messaging is hard to follow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8906256" y="2788920"/>
            <a:ext cx="91440" cy="91440"/>
          </a:xfrm>
          <a:prstGeom prst="ellipse">
            <a:avLst/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107424" y="2688336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719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Inconsistent social publishing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8906256" y="3227832"/>
            <a:ext cx="91440" cy="91440"/>
          </a:xfrm>
          <a:prstGeom prst="ellipse">
            <a:avLst/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107424" y="3127248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719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content/design capacity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8906256" y="3666744"/>
            <a:ext cx="91440" cy="91440"/>
          </a:xfrm>
          <a:prstGeom prst="ellipse">
            <a:avLst/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107424" y="356616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719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graphics need improvement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5596128" y="4352544"/>
            <a:ext cx="5952744" cy="1755648"/>
          </a:xfrm>
          <a:prstGeom prst="roundRect">
            <a:avLst>
              <a:gd name="adj" fmla="val 4167"/>
            </a:avLst>
          </a:prstGeom>
          <a:solidFill>
            <a:srgbClr val="F0F0EA"/>
          </a:solidFill>
          <a:ln w="12700">
            <a:solidFill>
              <a:srgbClr val="F0F0EA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43016" y="4562856"/>
            <a:ext cx="1746504" cy="256032"/>
          </a:xfrm>
          <a:prstGeom prst="roundRect">
            <a:avLst>
              <a:gd name="adj" fmla="val 28571"/>
            </a:avLst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34456" y="4576572"/>
            <a:ext cx="1563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60" kern="0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GUARDRAIL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5843016" y="4965192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qualification hypotheses, not verified facts about real companies.</a:t>
            </a:r>
            <a:endParaRPr lang="en-US" sz="1310" dirty="0"/>
          </a:p>
        </p:txBody>
      </p:sp>
      <p:sp>
        <p:nvSpPr>
          <p:cNvPr id="46" name="Text 44"/>
          <p:cNvSpPr txBox="1"/>
          <p:nvPr/>
        </p:nvSpPr>
        <p:spPr>
          <a:xfrm>
            <a:off x="5843016" y="537667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observable public evidence to validate fit. Public visibility alone does not establish buying intent.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D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329184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342900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60" kern="0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PERSONA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694944"/>
            <a:ext cx="10972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11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BUYER PERSONA TO GUIDE RESEARCH</a:t>
            </a:r>
            <a:endParaRPr lang="en-US" sz="2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97864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fictional profile used to organize questions - not a real individual or verified buyer study.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1792" y="1691640"/>
            <a:ext cx="3063240" cy="4416552"/>
          </a:xfrm>
          <a:prstGeom prst="roundRect">
            <a:avLst>
              <a:gd name="adj" fmla="val 2388"/>
            </a:avLst>
          </a:prstGeom>
          <a:solidFill>
            <a:srgbClr val="111318"/>
          </a:solidFill>
          <a:ln w="12700">
            <a:solidFill>
              <a:srgbClr val="11131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1911096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50976" y="1924812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60" kern="0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PERSONA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572768" y="2404872"/>
            <a:ext cx="1078992" cy="1078992"/>
          </a:xfrm>
          <a:prstGeom prst="ellipse">
            <a:avLst/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81912" y="2606040"/>
            <a:ext cx="1060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6850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Alex Morgan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86968" y="4133088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CD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 | Small B2B software company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886968" y="4800600"/>
            <a:ext cx="2487168" cy="0"/>
          </a:xfrm>
          <a:prstGeom prst="line">
            <a:avLst/>
          </a:prstGeom>
          <a:noFill/>
          <a:ln w="12700">
            <a:solidFill>
              <a:srgbClr val="3035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" y="502920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777D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lens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" y="5330952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F7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founder balancing product, credibility and limited marketing capacity.</a:t>
            </a:r>
            <a:endParaRPr lang="en-US" sz="1210" dirty="0"/>
          </a:p>
        </p:txBody>
      </p:sp>
      <p:sp>
        <p:nvSpPr>
          <p:cNvPr id="16" name="Shape 14"/>
          <p:cNvSpPr/>
          <p:nvPr/>
        </p:nvSpPr>
        <p:spPr>
          <a:xfrm>
            <a:off x="3931920" y="1691640"/>
            <a:ext cx="76169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0160">
            <a:solidFill>
              <a:srgbClr val="D9DB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1691640"/>
            <a:ext cx="82296" cy="1261872"/>
          </a:xfrm>
          <a:prstGeom prst="rect">
            <a:avLst>
              <a:gd name="adj" fmla="val 88889"/>
            </a:avLst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15384" y="1874520"/>
            <a:ext cx="6903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70" kern="0" dirty="0">
                <a:solidFill>
                  <a:srgbClr val="5F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PRIORITIES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215384" y="2167128"/>
            <a:ext cx="6922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product clearly  •  Build credibility with prospects</a:t>
            </a:r>
            <a:endParaRPr lang="en-US" sz="1310" dirty="0"/>
          </a:p>
          <a:p>
            <a:pPr algn="l" indent="0" marL="0">
              <a:buNone/>
            </a:pPr>
            <a:r>
              <a:rPr lang="en-US" sz="1310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 a consistent online presence  •  Use marketing resources efficiently</a:t>
            </a:r>
            <a:endParaRPr lang="en-US" sz="1310" dirty="0"/>
          </a:p>
        </p:txBody>
      </p:sp>
      <p:sp>
        <p:nvSpPr>
          <p:cNvPr id="20" name="Shape 18"/>
          <p:cNvSpPr/>
          <p:nvPr/>
        </p:nvSpPr>
        <p:spPr>
          <a:xfrm>
            <a:off x="3931920" y="3118104"/>
            <a:ext cx="76169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0160">
            <a:solidFill>
              <a:srgbClr val="D9DB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31920" y="3118104"/>
            <a:ext cx="82296" cy="1261872"/>
          </a:xfrm>
          <a:prstGeom prst="rect">
            <a:avLst>
              <a:gd name="adj" fmla="val 88889"/>
            </a:avLst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15384" y="3300984"/>
            <a:ext cx="6903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70" kern="0" dirty="0">
                <a:solidFill>
                  <a:srgbClr val="5F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CHALLENGES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215384" y="3593592"/>
            <a:ext cx="6922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internal marketing capacity  •  Unclear website messaging</a:t>
            </a:r>
            <a:endParaRPr lang="en-US" sz="1310" dirty="0"/>
          </a:p>
          <a:p>
            <a:pPr algn="l" indent="0" marL="0">
              <a:buNone/>
            </a:pPr>
            <a:r>
              <a:rPr lang="en-US" sz="1310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Inconsistent content production  •  Few dedicated design resources</a:t>
            </a:r>
            <a:endParaRPr lang="en-US" sz="1310" dirty="0"/>
          </a:p>
        </p:txBody>
      </p:sp>
      <p:sp>
        <p:nvSpPr>
          <p:cNvPr id="24" name="Shape 22"/>
          <p:cNvSpPr/>
          <p:nvPr/>
        </p:nvSpPr>
        <p:spPr>
          <a:xfrm>
            <a:off x="3931920" y="4544568"/>
            <a:ext cx="76169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0160">
            <a:solidFill>
              <a:srgbClr val="D9DB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920" y="4544568"/>
            <a:ext cx="82296" cy="1261872"/>
          </a:xfrm>
          <a:prstGeom prst="rect">
            <a:avLst>
              <a:gd name="adj" fmla="val 88889"/>
            </a:avLst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15384" y="4727448"/>
            <a:ext cx="6903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70" kern="0" dirty="0">
                <a:solidFill>
                  <a:srgbClr val="5F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NORTHFRAME STUDIO COULD FIT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215384" y="5020056"/>
            <a:ext cx="6922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copywriting to clarify the offer  •  Social content to support consistency</a:t>
            </a:r>
            <a:endParaRPr lang="en-US" sz="1310" dirty="0"/>
          </a:p>
          <a:p>
            <a:pPr algn="l" indent="0" marL="0">
              <a:buNone/>
            </a:pPr>
            <a:r>
              <a:rPr lang="en-US" sz="1310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design support for graphics and campaign assets</a:t>
            </a:r>
            <a:endParaRPr lang="en-US" sz="1310" dirty="0"/>
          </a:p>
        </p:txBody>
      </p:sp>
      <p:sp>
        <p:nvSpPr>
          <p:cNvPr id="28" name="Text 26"/>
          <p:cNvSpPr txBox="1"/>
          <p:nvPr/>
        </p:nvSpPr>
        <p:spPr>
          <a:xfrm>
            <a:off x="658368" y="618134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F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Disclosure: Alex Morgan is fictional. The profile is a planning aid, not evidence of a real buyer or market validation.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D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329184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342900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60" kern="0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QUALIFICATION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694944"/>
            <a:ext cx="10972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11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POSITIVE VS. NEGATIVE SIGNALS</a:t>
            </a:r>
            <a:endParaRPr lang="en-US" sz="2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97864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observable evidence from assumptions before allocating research time.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1792" y="1700784"/>
            <a:ext cx="5376672" cy="4279392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10160">
            <a:solidFill>
              <a:srgbClr val="D9DB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700784"/>
            <a:ext cx="5376672" cy="109728"/>
          </a:xfrm>
          <a:prstGeom prst="rect">
            <a:avLst>
              <a:gd name="adj" fmla="val 66667"/>
            </a:avLst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1975104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SIGNALS TO INVESTIGATE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569464"/>
            <a:ext cx="91440" cy="91440"/>
          </a:xfrm>
          <a:prstGeom prst="ellipse">
            <a:avLst/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15568" y="246888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19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has a functioning public website.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914400" y="3172968"/>
            <a:ext cx="91440" cy="91440"/>
          </a:xfrm>
          <a:prstGeom prst="ellipse">
            <a:avLst/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3072384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19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sells a B2B software product.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914400" y="3776472"/>
            <a:ext cx="91440" cy="91440"/>
          </a:xfrm>
          <a:prstGeom prst="ellipse">
            <a:avLst/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15568" y="367588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19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relevant decision-maker role can be identified.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914400" y="4379976"/>
            <a:ext cx="91440" cy="91440"/>
          </a:xfrm>
          <a:prstGeom prst="ellipse">
            <a:avLst/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15568" y="427939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19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marketing materials suggest a possible content or messaging need.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914400" y="4983480"/>
            <a:ext cx="91440" cy="91440"/>
          </a:xfrm>
          <a:prstGeom prst="ellipse">
            <a:avLst/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15568" y="4882896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19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appears to fit the target size and industry.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6208776" y="1700784"/>
            <a:ext cx="5340096" cy="4279392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10160">
            <a:solidFill>
              <a:srgbClr val="D9DB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08776" y="1700784"/>
            <a:ext cx="5340096" cy="109728"/>
          </a:xfrm>
          <a:prstGeom prst="rect">
            <a:avLst>
              <a:gd name="adj" fmla="val 66667"/>
            </a:avLst>
          </a:prstGeom>
          <a:solidFill>
            <a:srgbClr val="777D87"/>
          </a:solidFill>
          <a:ln w="12700">
            <a:solidFill>
              <a:srgbClr val="777D87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83096" y="1975104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/ DISQUALIFYING SIGNALS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01384" y="2569464"/>
            <a:ext cx="91440" cy="91440"/>
          </a:xfrm>
          <a:prstGeom prst="ellipse">
            <a:avLst/>
          </a:prstGeom>
          <a:solidFill>
            <a:srgbClr val="777D87"/>
          </a:solidFill>
          <a:ln w="12700">
            <a:solidFill>
              <a:srgbClr val="777D87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02552" y="2468880"/>
            <a:ext cx="4443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19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is outside the target industry.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6501384" y="3172968"/>
            <a:ext cx="91440" cy="91440"/>
          </a:xfrm>
          <a:prstGeom prst="ellipse">
            <a:avLst/>
          </a:prstGeom>
          <a:solidFill>
            <a:srgbClr val="777D87"/>
          </a:solidFill>
          <a:ln w="12700">
            <a:solidFill>
              <a:srgbClr val="777D87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02552" y="3072384"/>
            <a:ext cx="4443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19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is inactive or cannot be reasonably verified.</a:t>
            </a:r>
            <a:endParaRPr lang="en-US" sz="1230" dirty="0"/>
          </a:p>
        </p:txBody>
      </p:sp>
      <p:sp>
        <p:nvSpPr>
          <p:cNvPr id="26" name="Shape 24"/>
          <p:cNvSpPr/>
          <p:nvPr/>
        </p:nvSpPr>
        <p:spPr>
          <a:xfrm>
            <a:off x="6501384" y="3776472"/>
            <a:ext cx="91440" cy="91440"/>
          </a:xfrm>
          <a:prstGeom prst="ellipse">
            <a:avLst/>
          </a:prstGeom>
          <a:solidFill>
            <a:srgbClr val="777D87"/>
          </a:solidFill>
          <a:ln w="12700">
            <a:solidFill>
              <a:srgbClr val="777D87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02552" y="3675888"/>
            <a:ext cx="4443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19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plausible service fit can be identified.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6501384" y="4379976"/>
            <a:ext cx="91440" cy="91440"/>
          </a:xfrm>
          <a:prstGeom prst="ellipse">
            <a:avLst/>
          </a:prstGeom>
          <a:solidFill>
            <a:srgbClr val="777D87"/>
          </a:solidFill>
          <a:ln w="12700">
            <a:solidFill>
              <a:srgbClr val="777D87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02552" y="4279392"/>
            <a:ext cx="4443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19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information is restricted or cannot be collected appropriately.</a:t>
            </a:r>
            <a:endParaRPr lang="en-US" sz="1230" dirty="0"/>
          </a:p>
        </p:txBody>
      </p:sp>
      <p:sp>
        <p:nvSpPr>
          <p:cNvPr id="30" name="Shape 28"/>
          <p:cNvSpPr/>
          <p:nvPr/>
        </p:nvSpPr>
        <p:spPr>
          <a:xfrm>
            <a:off x="6501384" y="4983480"/>
            <a:ext cx="91440" cy="91440"/>
          </a:xfrm>
          <a:prstGeom prst="ellipse">
            <a:avLst/>
          </a:prstGeom>
          <a:solidFill>
            <a:srgbClr val="777D87"/>
          </a:solidFill>
          <a:ln w="12700">
            <a:solidFill>
              <a:srgbClr val="777D87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02552" y="4882896"/>
            <a:ext cx="4443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19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has explicitly opted out of marketing communication.</a:t>
            </a:r>
            <a:endParaRPr lang="en-US" sz="1230" dirty="0"/>
          </a:p>
        </p:txBody>
      </p:sp>
      <p:sp>
        <p:nvSpPr>
          <p:cNvPr id="32" name="Text 30"/>
          <p:cNvSpPr txBox="1"/>
          <p:nvPr/>
        </p:nvSpPr>
        <p:spPr>
          <a:xfrm>
            <a:off x="676656" y="612648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5F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website or visible role is not proof of buying intent, consent, or readiness to purchase.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D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329184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342900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60" kern="0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SCORING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694944"/>
            <a:ext cx="10972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11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TRANSPARENT LEAD SCORING FRAMEWORK</a:t>
            </a:r>
            <a:endParaRPr lang="en-US" sz="2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97864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criteria. Two points each. Score evidence, not intuition. Maximum: 10 points.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1792" y="1700784"/>
            <a:ext cx="7461504" cy="438912"/>
          </a:xfrm>
          <a:prstGeom prst="rect">
            <a:avLst>
              <a:gd name="adj" fmla="val 16667"/>
            </a:avLst>
          </a:prstGeom>
          <a:solidFill>
            <a:srgbClr val="111318"/>
          </a:solidFill>
          <a:ln w="12700">
            <a:solidFill>
              <a:srgbClr val="11131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174650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C8F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CRITERION</a:t>
            </a:r>
            <a:endParaRPr lang="en-US" sz="930" dirty="0"/>
          </a:p>
        </p:txBody>
      </p:sp>
      <p:sp>
        <p:nvSpPr>
          <p:cNvPr id="8" name="Text 6"/>
          <p:cNvSpPr txBox="1"/>
          <p:nvPr/>
        </p:nvSpPr>
        <p:spPr>
          <a:xfrm>
            <a:off x="2944368" y="1746504"/>
            <a:ext cx="758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C8F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</a:t>
            </a:r>
            <a:endParaRPr lang="en-US" sz="930" dirty="0"/>
          </a:p>
        </p:txBody>
      </p:sp>
      <p:sp>
        <p:nvSpPr>
          <p:cNvPr id="9" name="Text 7"/>
          <p:cNvSpPr txBox="1"/>
          <p:nvPr/>
        </p:nvSpPr>
        <p:spPr>
          <a:xfrm>
            <a:off x="3822192" y="174650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C8F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INTERPRET THE SCORE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21792" y="2139696"/>
            <a:ext cx="7461504" cy="658368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 w="5080">
            <a:solidFill>
              <a:srgbClr val="D9DB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212848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relevance</a:t>
            </a:r>
            <a:endParaRPr lang="en-US" sz="1170" dirty="0"/>
          </a:p>
        </p:txBody>
      </p:sp>
      <p:sp>
        <p:nvSpPr>
          <p:cNvPr id="12" name="Text 10"/>
          <p:cNvSpPr txBox="1"/>
          <p:nvPr/>
        </p:nvSpPr>
        <p:spPr>
          <a:xfrm>
            <a:off x="2944368" y="2212848"/>
            <a:ext cx="75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0–2</a:t>
            </a:r>
            <a:endParaRPr lang="en-US" sz="1220" dirty="0"/>
          </a:p>
        </p:txBody>
      </p:sp>
      <p:sp>
        <p:nvSpPr>
          <p:cNvPr id="13" name="Text 11"/>
          <p:cNvSpPr txBox="1"/>
          <p:nvPr/>
        </p:nvSpPr>
        <p:spPr>
          <a:xfrm>
            <a:off x="3822192" y="2203704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19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 outside target  |  1: adjacent / unclear  |  2: clear B2B SaaS fit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21792" y="2798064"/>
            <a:ext cx="7461504" cy="658368"/>
          </a:xfrm>
          <a:prstGeom prst="rect">
            <a:avLst>
              <a:gd name="adj" fmla="val 11111"/>
            </a:avLst>
          </a:prstGeom>
          <a:solidFill>
            <a:srgbClr val="F0F0EA"/>
          </a:solidFill>
          <a:ln w="5080">
            <a:solidFill>
              <a:srgbClr val="D9DB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871216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size fit</a:t>
            </a:r>
            <a:endParaRPr lang="en-US" sz="1170" dirty="0"/>
          </a:p>
        </p:txBody>
      </p:sp>
      <p:sp>
        <p:nvSpPr>
          <p:cNvPr id="16" name="Text 14"/>
          <p:cNvSpPr txBox="1"/>
          <p:nvPr/>
        </p:nvSpPr>
        <p:spPr>
          <a:xfrm>
            <a:off x="2944368" y="2871216"/>
            <a:ext cx="75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0–2</a:t>
            </a:r>
            <a:endParaRPr lang="en-US" sz="1220" dirty="0"/>
          </a:p>
        </p:txBody>
      </p:sp>
      <p:sp>
        <p:nvSpPr>
          <p:cNvPr id="17" name="Text 15"/>
          <p:cNvSpPr txBox="1"/>
          <p:nvPr/>
        </p:nvSpPr>
        <p:spPr>
          <a:xfrm>
            <a:off x="3822192" y="2862072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19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 outside range  |  1: uncertain / near range  |  2: evidence suggests 5–50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621792" y="3456432"/>
            <a:ext cx="7461504" cy="658368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 w="5080">
            <a:solidFill>
              <a:srgbClr val="D9DB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529584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Decision-maker role</a:t>
            </a:r>
            <a:endParaRPr lang="en-US" sz="1170" dirty="0"/>
          </a:p>
        </p:txBody>
      </p:sp>
      <p:sp>
        <p:nvSpPr>
          <p:cNvPr id="20" name="Text 18"/>
          <p:cNvSpPr txBox="1"/>
          <p:nvPr/>
        </p:nvSpPr>
        <p:spPr>
          <a:xfrm>
            <a:off x="2944368" y="3529584"/>
            <a:ext cx="75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0–2</a:t>
            </a:r>
            <a:endParaRPr lang="en-US" sz="1220" dirty="0"/>
          </a:p>
        </p:txBody>
      </p:sp>
      <p:sp>
        <p:nvSpPr>
          <p:cNvPr id="21" name="Text 19"/>
          <p:cNvSpPr txBox="1"/>
          <p:nvPr/>
        </p:nvSpPr>
        <p:spPr>
          <a:xfrm>
            <a:off x="3822192" y="352044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19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 none identified  |  1: plausible  |  2: relevant role publicly identified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21792" y="4114800"/>
            <a:ext cx="7461504" cy="658368"/>
          </a:xfrm>
          <a:prstGeom prst="rect">
            <a:avLst>
              <a:gd name="adj" fmla="val 11111"/>
            </a:avLst>
          </a:prstGeom>
          <a:solidFill>
            <a:srgbClr val="F0F0EA"/>
          </a:solidFill>
          <a:ln w="5080">
            <a:solidFill>
              <a:srgbClr val="D9DBD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187952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service need</a:t>
            </a:r>
            <a:endParaRPr lang="en-US" sz="1170" dirty="0"/>
          </a:p>
        </p:txBody>
      </p:sp>
      <p:sp>
        <p:nvSpPr>
          <p:cNvPr id="24" name="Text 22"/>
          <p:cNvSpPr txBox="1"/>
          <p:nvPr/>
        </p:nvSpPr>
        <p:spPr>
          <a:xfrm>
            <a:off x="2944368" y="4187952"/>
            <a:ext cx="75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0–2</a:t>
            </a:r>
            <a:endParaRPr lang="en-US" sz="1220" dirty="0"/>
          </a:p>
        </p:txBody>
      </p:sp>
      <p:sp>
        <p:nvSpPr>
          <p:cNvPr id="25" name="Text 23"/>
          <p:cNvSpPr txBox="1"/>
          <p:nvPr/>
        </p:nvSpPr>
        <p:spPr>
          <a:xfrm>
            <a:off x="3822192" y="4178808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19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 no plausible fit  |  1: weak signal  |  2: observable, specific need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21792" y="4773168"/>
            <a:ext cx="7461504" cy="658368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 w="5080">
            <a:solidFill>
              <a:srgbClr val="D9DBD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84632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information quality</a:t>
            </a:r>
            <a:endParaRPr lang="en-US" sz="1170" dirty="0"/>
          </a:p>
        </p:txBody>
      </p:sp>
      <p:sp>
        <p:nvSpPr>
          <p:cNvPr id="28" name="Text 26"/>
          <p:cNvSpPr txBox="1"/>
          <p:nvPr/>
        </p:nvSpPr>
        <p:spPr>
          <a:xfrm>
            <a:off x="2944368" y="4846320"/>
            <a:ext cx="75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0–2</a:t>
            </a:r>
            <a:endParaRPr lang="en-US" sz="1220" dirty="0"/>
          </a:p>
        </p:txBody>
      </p:sp>
      <p:sp>
        <p:nvSpPr>
          <p:cNvPr id="29" name="Text 27"/>
          <p:cNvSpPr txBox="1"/>
          <p:nvPr/>
        </p:nvSpPr>
        <p:spPr>
          <a:xfrm>
            <a:off x="3822192" y="4837176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19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 unreliable  |  1: gaps remain  |  2: credible company / role information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8348472" y="1700784"/>
            <a:ext cx="3191256" cy="1920240"/>
          </a:xfrm>
          <a:prstGeom prst="roundRect">
            <a:avLst>
              <a:gd name="adj" fmla="val 3810"/>
            </a:avLst>
          </a:prstGeom>
          <a:solidFill>
            <a:srgbClr val="111318"/>
          </a:solidFill>
          <a:ln w="12700">
            <a:solidFill>
              <a:srgbClr val="111318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4108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777D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SCORE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622792" y="2185416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8FF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4800" dirty="0"/>
          </a:p>
        </p:txBody>
      </p:sp>
      <p:sp>
        <p:nvSpPr>
          <p:cNvPr id="33" name="Text 31"/>
          <p:cNvSpPr txBox="1"/>
          <p:nvPr/>
        </p:nvSpPr>
        <p:spPr>
          <a:xfrm>
            <a:off x="9729216" y="23774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7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criteria × 2 points</a:t>
            </a:r>
            <a:endParaRPr lang="en-US" sz="1180" dirty="0"/>
          </a:p>
        </p:txBody>
      </p:sp>
      <p:sp>
        <p:nvSpPr>
          <p:cNvPr id="34" name="Text 32"/>
          <p:cNvSpPr txBox="1"/>
          <p:nvPr/>
        </p:nvSpPr>
        <p:spPr>
          <a:xfrm>
            <a:off x="8641080" y="3108960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CCD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potential fit still requires verification.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8348472" y="3794760"/>
            <a:ext cx="3191256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0160">
            <a:solidFill>
              <a:srgbClr val="D9DB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13648" y="3959352"/>
            <a:ext cx="1865376" cy="256032"/>
          </a:xfrm>
          <a:prstGeom prst="roundRect">
            <a:avLst>
              <a:gd name="adj" fmla="val 28571"/>
            </a:avLst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705088" y="3973068"/>
            <a:ext cx="1682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60" kern="0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HYPOTHETICAL EXAMPLE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8613648" y="4297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SOFTWARE CO.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8613648" y="45902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F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+ 2 + 2 + 1 + 2</a:t>
            </a:r>
            <a:endParaRPr lang="en-US" sz="1080" dirty="0"/>
          </a:p>
        </p:txBody>
      </p:sp>
      <p:sp>
        <p:nvSpPr>
          <p:cNvPr id="40" name="Text 38"/>
          <p:cNvSpPr txBox="1"/>
          <p:nvPr/>
        </p:nvSpPr>
        <p:spPr>
          <a:xfrm>
            <a:off x="8613648" y="4791456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 / 10</a:t>
            </a:r>
            <a:endParaRPr lang="en-US" sz="2300" dirty="0"/>
          </a:p>
        </p:txBody>
      </p:sp>
      <p:sp>
        <p:nvSpPr>
          <p:cNvPr id="41" name="Shape 39"/>
          <p:cNvSpPr/>
          <p:nvPr/>
        </p:nvSpPr>
        <p:spPr>
          <a:xfrm>
            <a:off x="9454896" y="5202936"/>
            <a:ext cx="1837944" cy="256032"/>
          </a:xfrm>
          <a:prstGeom prst="roundRect">
            <a:avLst>
              <a:gd name="adj" fmla="val 28571"/>
            </a:avLst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546336" y="5216652"/>
            <a:ext cx="1655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60" kern="0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POTENTIAL FIT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1792" y="5596128"/>
            <a:ext cx="3547872" cy="411480"/>
          </a:xfrm>
          <a:prstGeom prst="roundRect">
            <a:avLst>
              <a:gd name="adj" fmla="val 17778"/>
            </a:avLst>
          </a:prstGeom>
          <a:solidFill>
            <a:srgbClr val="EAF7D1"/>
          </a:solidFill>
          <a:ln w="12700">
            <a:solidFill>
              <a:srgbClr val="EAF7D1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13232" y="5650992"/>
            <a:ext cx="33649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8–10  STRONG POTENTIAL FIT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315968" y="5596128"/>
            <a:ext cx="3547872" cy="411480"/>
          </a:xfrm>
          <a:prstGeom prst="roundRect">
            <a:avLst>
              <a:gd name="adj" fmla="val 17778"/>
            </a:avLst>
          </a:prstGeom>
          <a:solidFill>
            <a:srgbClr val="FFF1CC"/>
          </a:solidFill>
          <a:ln w="12700">
            <a:solidFill>
              <a:srgbClr val="FFF1CC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407408" y="5650992"/>
            <a:ext cx="33649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5–7  POSSIBLE FIT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010144" y="5596128"/>
            <a:ext cx="3529584" cy="411480"/>
          </a:xfrm>
          <a:prstGeom prst="roundRect">
            <a:avLst>
              <a:gd name="adj" fmla="val 17778"/>
            </a:avLst>
          </a:prstGeom>
          <a:solidFill>
            <a:srgbClr val="E5E6E1"/>
          </a:solidFill>
          <a:ln w="12700">
            <a:solidFill>
              <a:srgbClr val="E5E6E1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101584" y="5650992"/>
            <a:ext cx="3346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0–4  LOW FIT / DEPRIORITIZE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667512" y="6126480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i="1" dirty="0">
                <a:solidFill>
                  <a:srgbClr val="5F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9/10 score is a hypothetical fit assessment - not proof of purchasing intent.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D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329184"/>
            <a:ext cx="1705356" cy="256032"/>
          </a:xfrm>
          <a:prstGeom prst="roundRect">
            <a:avLst>
              <a:gd name="adj" fmla="val 28571"/>
            </a:avLst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342900"/>
            <a:ext cx="15224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60" kern="0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WORKFLOW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694944"/>
            <a:ext cx="10972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11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REPEATABLE RESEARCH &amp; QUALIFICATION WORKFLOW</a:t>
            </a:r>
            <a:endParaRPr lang="en-US" sz="2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97864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from a defined market to a reviewable prospect list, with evidence and safeguards at each step.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1792" y="1847088"/>
            <a:ext cx="1975104" cy="1399032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0160">
            <a:solidFill>
              <a:srgbClr val="D9DB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847088"/>
            <a:ext cx="1975104" cy="91440"/>
          </a:xfrm>
          <a:prstGeom prst="rect">
            <a:avLst>
              <a:gd name="adj" fmla="val 80000"/>
            </a:avLst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029968"/>
            <a:ext cx="365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235915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target market</a:t>
            </a:r>
            <a:endParaRPr lang="en-US" sz="111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2779776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F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Industry, stage, size and market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624328" y="2551176"/>
            <a:ext cx="228600" cy="0"/>
          </a:xfrm>
          <a:prstGeom prst="line">
            <a:avLst/>
          </a:prstGeom>
          <a:noFill/>
          <a:ln w="21590">
            <a:solidFill>
              <a:srgbClr val="C8FF4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62072" y="1847088"/>
            <a:ext cx="1975104" cy="1399032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0160">
            <a:solidFill>
              <a:srgbClr val="D9DB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62072" y="1847088"/>
            <a:ext cx="1975104" cy="91440"/>
          </a:xfrm>
          <a:prstGeom prst="rect">
            <a:avLst>
              <a:gd name="adj" fmla="val 80000"/>
            </a:avLst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99232" y="2029968"/>
            <a:ext cx="365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2999232" y="235915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relevant companies</a:t>
            </a:r>
            <a:endParaRPr lang="en-US" sz="1110" dirty="0"/>
          </a:p>
        </p:txBody>
      </p:sp>
      <p:sp>
        <p:nvSpPr>
          <p:cNvPr id="16" name="Text 14"/>
          <p:cNvSpPr txBox="1"/>
          <p:nvPr/>
        </p:nvSpPr>
        <p:spPr>
          <a:xfrm>
            <a:off x="2999232" y="2779776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F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 initial candidate list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864608" y="2551176"/>
            <a:ext cx="228600" cy="0"/>
          </a:xfrm>
          <a:prstGeom prst="line">
            <a:avLst/>
          </a:prstGeom>
          <a:noFill/>
          <a:ln w="21590">
            <a:solidFill>
              <a:srgbClr val="C8FF4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02352" y="1847088"/>
            <a:ext cx="1975104" cy="1399032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0160">
            <a:solidFill>
              <a:srgbClr val="D9DB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02352" y="1847088"/>
            <a:ext cx="1975104" cy="91440"/>
          </a:xfrm>
          <a:prstGeom prst="rect">
            <a:avLst>
              <a:gd name="adj" fmla="val 80000"/>
            </a:avLst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39512" y="2029968"/>
            <a:ext cx="365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239512" y="235915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public website</a:t>
            </a:r>
            <a:endParaRPr lang="en-US" sz="1110" dirty="0"/>
          </a:p>
        </p:txBody>
      </p:sp>
      <p:sp>
        <p:nvSpPr>
          <p:cNvPr id="22" name="Text 20"/>
          <p:cNvSpPr txBox="1"/>
          <p:nvPr/>
        </p:nvSpPr>
        <p:spPr>
          <a:xfrm>
            <a:off x="5239512" y="2779776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F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Product, messaging and credibility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7104888" y="2551176"/>
            <a:ext cx="228600" cy="0"/>
          </a:xfrm>
          <a:prstGeom prst="line">
            <a:avLst/>
          </a:prstGeom>
          <a:noFill/>
          <a:ln w="21590">
            <a:solidFill>
              <a:srgbClr val="C8FF4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42632" y="1847088"/>
            <a:ext cx="1975104" cy="1399032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0160">
            <a:solidFill>
              <a:srgbClr val="D9DB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42632" y="1847088"/>
            <a:ext cx="1975104" cy="91440"/>
          </a:xfrm>
          <a:prstGeom prst="rect">
            <a:avLst>
              <a:gd name="adj" fmla="val 80000"/>
            </a:avLst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79792" y="2029968"/>
            <a:ext cx="365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7479792" y="235915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industry and size</a:t>
            </a:r>
            <a:endParaRPr lang="en-US" sz="1110" dirty="0"/>
          </a:p>
        </p:txBody>
      </p:sp>
      <p:sp>
        <p:nvSpPr>
          <p:cNvPr id="28" name="Text 26"/>
          <p:cNvSpPr txBox="1"/>
          <p:nvPr/>
        </p:nvSpPr>
        <p:spPr>
          <a:xfrm>
            <a:off x="7479792" y="2779776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F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core firmographics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9345168" y="2551176"/>
            <a:ext cx="228600" cy="0"/>
          </a:xfrm>
          <a:prstGeom prst="line">
            <a:avLst/>
          </a:prstGeom>
          <a:noFill/>
          <a:ln w="21590">
            <a:solidFill>
              <a:srgbClr val="C8FF4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582912" y="1847088"/>
            <a:ext cx="1975104" cy="1399032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0160">
            <a:solidFill>
              <a:srgbClr val="D9DB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82912" y="1847088"/>
            <a:ext cx="1975104" cy="91440"/>
          </a:xfrm>
          <a:prstGeom prst="rect">
            <a:avLst>
              <a:gd name="adj" fmla="val 80000"/>
            </a:avLst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720072" y="2029968"/>
            <a:ext cx="365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9720072" y="235915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relevant role</a:t>
            </a:r>
            <a:endParaRPr lang="en-US" sz="1110" dirty="0"/>
          </a:p>
        </p:txBody>
      </p:sp>
      <p:sp>
        <p:nvSpPr>
          <p:cNvPr id="34" name="Text 32"/>
          <p:cNvSpPr txBox="1"/>
          <p:nvPr/>
        </p:nvSpPr>
        <p:spPr>
          <a:xfrm>
            <a:off x="9720072" y="2779776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F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 or marketing decision-maker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10570464" y="3273552"/>
            <a:ext cx="0" cy="448056"/>
          </a:xfrm>
          <a:prstGeom prst="line">
            <a:avLst/>
          </a:prstGeom>
          <a:noFill/>
          <a:ln w="21590">
            <a:solidFill>
              <a:srgbClr val="C8FF45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10716768" y="338328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F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9582912" y="3840480"/>
            <a:ext cx="1975104" cy="1399032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0160">
            <a:solidFill>
              <a:srgbClr val="D9DB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82912" y="3840480"/>
            <a:ext cx="1975104" cy="91440"/>
          </a:xfrm>
          <a:prstGeom prst="rect">
            <a:avLst>
              <a:gd name="adj" fmla="val 80000"/>
            </a:avLst>
          </a:prstGeom>
          <a:solidFill>
            <a:srgbClr val="777D87"/>
          </a:solidFill>
          <a:ln w="12700">
            <a:solidFill>
              <a:srgbClr val="777D87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720072" y="4023360"/>
            <a:ext cx="365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450" dirty="0"/>
          </a:p>
        </p:txBody>
      </p:sp>
      <p:sp>
        <p:nvSpPr>
          <p:cNvPr id="40" name="Text 38"/>
          <p:cNvSpPr txBox="1"/>
          <p:nvPr/>
        </p:nvSpPr>
        <p:spPr>
          <a:xfrm>
            <a:off x="9720072" y="435254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source + date</a:t>
            </a:r>
            <a:endParaRPr lang="en-US" sz="1070" dirty="0"/>
          </a:p>
        </p:txBody>
      </p:sp>
      <p:sp>
        <p:nvSpPr>
          <p:cNvPr id="41" name="Text 39"/>
          <p:cNvSpPr txBox="1"/>
          <p:nvPr/>
        </p:nvSpPr>
        <p:spPr>
          <a:xfrm>
            <a:off x="9720072" y="477316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5F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URL, source type and access date</a:t>
            </a:r>
            <a:endParaRPr lang="en-US" sz="910" dirty="0"/>
          </a:p>
        </p:txBody>
      </p:sp>
      <p:sp>
        <p:nvSpPr>
          <p:cNvPr id="42" name="Shape 40"/>
          <p:cNvSpPr/>
          <p:nvPr/>
        </p:nvSpPr>
        <p:spPr>
          <a:xfrm>
            <a:off x="9326880" y="4544568"/>
            <a:ext cx="219456" cy="0"/>
          </a:xfrm>
          <a:prstGeom prst="line">
            <a:avLst/>
          </a:prstGeom>
          <a:noFill/>
          <a:ln w="21590">
            <a:solidFill>
              <a:srgbClr val="C8FF45"/>
            </a:solidFill>
            <a:prstDash val="solid"/>
            <a:headEnd type="triangle"/>
          </a:ln>
        </p:spPr>
      </p:sp>
      <p:sp>
        <p:nvSpPr>
          <p:cNvPr id="43" name="Shape 41"/>
          <p:cNvSpPr/>
          <p:nvPr/>
        </p:nvSpPr>
        <p:spPr>
          <a:xfrm>
            <a:off x="7342632" y="3840480"/>
            <a:ext cx="1975104" cy="1399032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0160">
            <a:solidFill>
              <a:srgbClr val="D9DBD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42632" y="3840480"/>
            <a:ext cx="1975104" cy="91440"/>
          </a:xfrm>
          <a:prstGeom prst="rect">
            <a:avLst>
              <a:gd name="adj" fmla="val 80000"/>
            </a:avLst>
          </a:prstGeom>
          <a:solidFill>
            <a:srgbClr val="777D87"/>
          </a:solidFill>
          <a:ln w="12700">
            <a:solidFill>
              <a:srgbClr val="777D87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479792" y="4023360"/>
            <a:ext cx="365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450" dirty="0"/>
          </a:p>
        </p:txBody>
      </p:sp>
      <p:sp>
        <p:nvSpPr>
          <p:cNvPr id="46" name="Text 44"/>
          <p:cNvSpPr txBox="1"/>
          <p:nvPr/>
        </p:nvSpPr>
        <p:spPr>
          <a:xfrm>
            <a:off x="7479792" y="435254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potential service fit</a:t>
            </a:r>
            <a:endParaRPr lang="en-US" sz="1070" dirty="0"/>
          </a:p>
        </p:txBody>
      </p:sp>
      <p:sp>
        <p:nvSpPr>
          <p:cNvPr id="47" name="Text 45"/>
          <p:cNvSpPr txBox="1"/>
          <p:nvPr/>
        </p:nvSpPr>
        <p:spPr>
          <a:xfrm>
            <a:off x="7479792" y="477316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5F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 specific, observable evidence</a:t>
            </a:r>
            <a:endParaRPr lang="en-US" sz="910" dirty="0"/>
          </a:p>
        </p:txBody>
      </p:sp>
      <p:sp>
        <p:nvSpPr>
          <p:cNvPr id="48" name="Shape 46"/>
          <p:cNvSpPr/>
          <p:nvPr/>
        </p:nvSpPr>
        <p:spPr>
          <a:xfrm>
            <a:off x="7086600" y="4544568"/>
            <a:ext cx="219456" cy="0"/>
          </a:xfrm>
          <a:prstGeom prst="line">
            <a:avLst/>
          </a:prstGeom>
          <a:noFill/>
          <a:ln w="21590">
            <a:solidFill>
              <a:srgbClr val="C8FF45"/>
            </a:solidFill>
            <a:prstDash val="solid"/>
            <a:headEnd type="triangle"/>
          </a:ln>
        </p:spPr>
      </p:sp>
      <p:sp>
        <p:nvSpPr>
          <p:cNvPr id="49" name="Shape 47"/>
          <p:cNvSpPr/>
          <p:nvPr/>
        </p:nvSpPr>
        <p:spPr>
          <a:xfrm>
            <a:off x="5102352" y="3840480"/>
            <a:ext cx="1975104" cy="1399032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0160">
            <a:solidFill>
              <a:srgbClr val="D9DBD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02352" y="3840480"/>
            <a:ext cx="1975104" cy="91440"/>
          </a:xfrm>
          <a:prstGeom prst="rect">
            <a:avLst>
              <a:gd name="adj" fmla="val 80000"/>
            </a:avLst>
          </a:prstGeom>
          <a:solidFill>
            <a:srgbClr val="777D87"/>
          </a:solidFill>
          <a:ln w="12700">
            <a:solidFill>
              <a:srgbClr val="777D87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239512" y="4023360"/>
            <a:ext cx="365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450" dirty="0"/>
          </a:p>
        </p:txBody>
      </p:sp>
      <p:sp>
        <p:nvSpPr>
          <p:cNvPr id="52" name="Text 50"/>
          <p:cNvSpPr txBox="1"/>
          <p:nvPr/>
        </p:nvSpPr>
        <p:spPr>
          <a:xfrm>
            <a:off x="5239512" y="435254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permitted business contact</a:t>
            </a:r>
            <a:endParaRPr lang="en-US" sz="1070" dirty="0"/>
          </a:p>
        </p:txBody>
      </p:sp>
      <p:sp>
        <p:nvSpPr>
          <p:cNvPr id="53" name="Text 51"/>
          <p:cNvSpPr txBox="1"/>
          <p:nvPr/>
        </p:nvSpPr>
        <p:spPr>
          <a:xfrm>
            <a:off x="5239512" y="477316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5F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appropriate public business sources</a:t>
            </a:r>
            <a:endParaRPr lang="en-US" sz="910" dirty="0"/>
          </a:p>
        </p:txBody>
      </p:sp>
      <p:sp>
        <p:nvSpPr>
          <p:cNvPr id="54" name="Shape 52"/>
          <p:cNvSpPr/>
          <p:nvPr/>
        </p:nvSpPr>
        <p:spPr>
          <a:xfrm>
            <a:off x="4846320" y="4544568"/>
            <a:ext cx="219456" cy="0"/>
          </a:xfrm>
          <a:prstGeom prst="line">
            <a:avLst/>
          </a:prstGeom>
          <a:noFill/>
          <a:ln w="21590">
            <a:solidFill>
              <a:srgbClr val="C8FF45"/>
            </a:solidFill>
            <a:prstDash val="solid"/>
            <a:headEnd type="triangle"/>
          </a:ln>
        </p:spPr>
      </p:sp>
      <p:sp>
        <p:nvSpPr>
          <p:cNvPr id="55" name="Shape 53"/>
          <p:cNvSpPr/>
          <p:nvPr/>
        </p:nvSpPr>
        <p:spPr>
          <a:xfrm>
            <a:off x="2862072" y="3840480"/>
            <a:ext cx="1975104" cy="1399032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0160">
            <a:solidFill>
              <a:srgbClr val="D9DBD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862072" y="3840480"/>
            <a:ext cx="1975104" cy="91440"/>
          </a:xfrm>
          <a:prstGeom prst="rect">
            <a:avLst>
              <a:gd name="adj" fmla="val 80000"/>
            </a:avLst>
          </a:prstGeom>
          <a:solidFill>
            <a:srgbClr val="777D87"/>
          </a:solidFill>
          <a:ln w="12700">
            <a:solidFill>
              <a:srgbClr val="777D87">
                <a:alpha val="0"/>
              </a:srgbClr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999232" y="4023360"/>
            <a:ext cx="365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450" dirty="0"/>
          </a:p>
        </p:txBody>
      </p:sp>
      <p:sp>
        <p:nvSpPr>
          <p:cNvPr id="58" name="Text 56"/>
          <p:cNvSpPr txBox="1"/>
          <p:nvPr/>
        </p:nvSpPr>
        <p:spPr>
          <a:xfrm>
            <a:off x="2999232" y="435254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qualification decision</a:t>
            </a:r>
            <a:endParaRPr lang="en-US" sz="1070" dirty="0"/>
          </a:p>
        </p:txBody>
      </p:sp>
      <p:sp>
        <p:nvSpPr>
          <p:cNvPr id="59" name="Text 57"/>
          <p:cNvSpPr txBox="1"/>
          <p:nvPr/>
        </p:nvSpPr>
        <p:spPr>
          <a:xfrm>
            <a:off x="2999232" y="477316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5F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Score, rationale and next action</a:t>
            </a:r>
            <a:endParaRPr lang="en-US" sz="910" dirty="0"/>
          </a:p>
        </p:txBody>
      </p:sp>
      <p:sp>
        <p:nvSpPr>
          <p:cNvPr id="60" name="Shape 58"/>
          <p:cNvSpPr/>
          <p:nvPr/>
        </p:nvSpPr>
        <p:spPr>
          <a:xfrm>
            <a:off x="2606040" y="4544568"/>
            <a:ext cx="219456" cy="0"/>
          </a:xfrm>
          <a:prstGeom prst="line">
            <a:avLst/>
          </a:prstGeom>
          <a:noFill/>
          <a:ln w="21590">
            <a:solidFill>
              <a:srgbClr val="C8FF45"/>
            </a:solidFill>
            <a:prstDash val="solid"/>
            <a:headEnd type="triangle"/>
          </a:ln>
        </p:spPr>
      </p:sp>
      <p:sp>
        <p:nvSpPr>
          <p:cNvPr id="61" name="Shape 59"/>
          <p:cNvSpPr/>
          <p:nvPr/>
        </p:nvSpPr>
        <p:spPr>
          <a:xfrm>
            <a:off x="621792" y="3840480"/>
            <a:ext cx="1975104" cy="1399032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0160">
            <a:solidFill>
              <a:srgbClr val="D9DBD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1792" y="3840480"/>
            <a:ext cx="1975104" cy="91440"/>
          </a:xfrm>
          <a:prstGeom prst="rect">
            <a:avLst>
              <a:gd name="adj" fmla="val 80000"/>
            </a:avLst>
          </a:prstGeom>
          <a:solidFill>
            <a:srgbClr val="777D87"/>
          </a:solidFill>
          <a:ln w="12700">
            <a:solidFill>
              <a:srgbClr val="777D87">
                <a:alpha val="0"/>
              </a:srgbClr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58952" y="4023360"/>
            <a:ext cx="365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50" dirty="0"/>
          </a:p>
        </p:txBody>
      </p:sp>
      <p:sp>
        <p:nvSpPr>
          <p:cNvPr id="64" name="Text 62"/>
          <p:cNvSpPr txBox="1"/>
          <p:nvPr/>
        </p:nvSpPr>
        <p:spPr>
          <a:xfrm>
            <a:off x="758952" y="435254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Respect opt-outs and rules</a:t>
            </a:r>
            <a:endParaRPr lang="en-US" sz="1070" dirty="0"/>
          </a:p>
        </p:txBody>
      </p:sp>
      <p:sp>
        <p:nvSpPr>
          <p:cNvPr id="65" name="Text 63"/>
          <p:cNvSpPr txBox="1"/>
          <p:nvPr/>
        </p:nvSpPr>
        <p:spPr>
          <a:xfrm>
            <a:off x="758952" y="477316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5F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privacy and channel requirements</a:t>
            </a:r>
            <a:endParaRPr lang="en-US" sz="910" dirty="0"/>
          </a:p>
        </p:txBody>
      </p:sp>
      <p:sp>
        <p:nvSpPr>
          <p:cNvPr id="66" name="Shape 64"/>
          <p:cNvSpPr/>
          <p:nvPr/>
        </p:nvSpPr>
        <p:spPr>
          <a:xfrm>
            <a:off x="621792" y="5577840"/>
            <a:ext cx="10936224" cy="438912"/>
          </a:xfrm>
          <a:prstGeom prst="roundRect">
            <a:avLst>
              <a:gd name="adj" fmla="val 16667"/>
            </a:avLst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59536" y="5641848"/>
            <a:ext cx="10424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 |  Structured, reviewable prospect list with source evidence, scores, research status and next action.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D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>
              <a:gd name="adj" fmla="val 1067"/>
            </a:avLst>
          </a:prstGeom>
          <a:solidFill>
            <a:srgbClr val="111318"/>
          </a:solidFill>
          <a:ln w="12700">
            <a:solidFill>
              <a:srgbClr val="1113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>
              <a:gd name="adj" fmla="val 50000"/>
            </a:avLst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493776"/>
            <a:ext cx="1673352" cy="256032"/>
          </a:xfrm>
          <a:prstGeom prst="roundRect">
            <a:avLst>
              <a:gd name="adj" fmla="val 28571"/>
            </a:avLst>
          </a:prstGeom>
          <a:solidFill>
            <a:srgbClr val="C8FF45"/>
          </a:solidFill>
          <a:ln w="12700">
            <a:solidFill>
              <a:srgbClr val="C8FF45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507492"/>
            <a:ext cx="1490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60" kern="0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 SUMMARY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877824"/>
            <a:ext cx="97840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BETTER TARGETING.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7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MORE RELEVANT OUTREACH.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19933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7CB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repeatable structure for research-led prospect selection.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2578608"/>
            <a:ext cx="3310128" cy="1005840"/>
          </a:xfrm>
          <a:prstGeom prst="roundRect">
            <a:avLst>
              <a:gd name="adj" fmla="val 7273"/>
            </a:avLst>
          </a:prstGeom>
          <a:solidFill>
            <a:srgbClr val="252932"/>
          </a:solidFill>
          <a:ln w="10160">
            <a:solidFill>
              <a:srgbClr val="3035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" y="2752344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F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2734056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spc="25" kern="0" dirty="0">
                <a:solidFill>
                  <a:srgbClr val="F7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DEFINED ICP</a:t>
            </a:r>
            <a:endParaRPr lang="en-US" sz="97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3026664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C7CB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industry, company size and market profile.</a:t>
            </a:r>
            <a:endParaRPr lang="en-US" sz="1010" dirty="0"/>
          </a:p>
        </p:txBody>
      </p:sp>
      <p:sp>
        <p:nvSpPr>
          <p:cNvPr id="12" name="Shape 10"/>
          <p:cNvSpPr/>
          <p:nvPr/>
        </p:nvSpPr>
        <p:spPr>
          <a:xfrm>
            <a:off x="4434840" y="2578608"/>
            <a:ext cx="3310128" cy="1005840"/>
          </a:xfrm>
          <a:prstGeom prst="roundRect">
            <a:avLst>
              <a:gd name="adj" fmla="val 7273"/>
            </a:avLst>
          </a:prstGeom>
          <a:solidFill>
            <a:srgbClr val="252932"/>
          </a:solidFill>
          <a:ln w="10160">
            <a:solidFill>
              <a:srgbClr val="3035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99432" y="2752344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F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2734056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spc="25" kern="0" dirty="0">
                <a:solidFill>
                  <a:srgbClr val="F7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ROLES</a:t>
            </a:r>
            <a:endParaRPr lang="en-US" sz="97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3026664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C7CB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Founder, CEO and marketing decision-makers.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8156448" y="2578608"/>
            <a:ext cx="3310128" cy="1005840"/>
          </a:xfrm>
          <a:prstGeom prst="roundRect">
            <a:avLst>
              <a:gd name="adj" fmla="val 7273"/>
            </a:avLst>
          </a:prstGeom>
          <a:solidFill>
            <a:srgbClr val="252932"/>
          </a:solidFill>
          <a:ln w="10160">
            <a:solidFill>
              <a:srgbClr val="3035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2752344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F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796528" y="2734056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spc="25" kern="0" dirty="0">
                <a:solidFill>
                  <a:srgbClr val="F7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QUALIFICATION SIGNALS</a:t>
            </a:r>
            <a:endParaRPr lang="en-US" sz="970" dirty="0"/>
          </a:p>
        </p:txBody>
      </p:sp>
      <p:sp>
        <p:nvSpPr>
          <p:cNvPr id="19" name="Text 17"/>
          <p:cNvSpPr txBox="1"/>
          <p:nvPr/>
        </p:nvSpPr>
        <p:spPr>
          <a:xfrm>
            <a:off x="8796528" y="3026664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C7CB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indicators and disqualification rules.</a:t>
            </a:r>
            <a:endParaRPr lang="en-US" sz="1010" dirty="0"/>
          </a:p>
        </p:txBody>
      </p:sp>
      <p:sp>
        <p:nvSpPr>
          <p:cNvPr id="20" name="Shape 18"/>
          <p:cNvSpPr/>
          <p:nvPr/>
        </p:nvSpPr>
        <p:spPr>
          <a:xfrm>
            <a:off x="713232" y="3776472"/>
            <a:ext cx="3310128" cy="1005840"/>
          </a:xfrm>
          <a:prstGeom prst="roundRect">
            <a:avLst>
              <a:gd name="adj" fmla="val 7273"/>
            </a:avLst>
          </a:prstGeom>
          <a:solidFill>
            <a:srgbClr val="252932"/>
          </a:solidFill>
          <a:ln w="10160">
            <a:solidFill>
              <a:srgbClr val="3035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77824" y="395020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F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53312" y="3931920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spc="25" kern="0" dirty="0">
                <a:solidFill>
                  <a:srgbClr val="F7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TRANSPARENT SCORING</a:t>
            </a:r>
            <a:endParaRPr lang="en-US" sz="970" dirty="0"/>
          </a:p>
        </p:txBody>
      </p:sp>
      <p:sp>
        <p:nvSpPr>
          <p:cNvPr id="23" name="Text 21"/>
          <p:cNvSpPr txBox="1"/>
          <p:nvPr/>
        </p:nvSpPr>
        <p:spPr>
          <a:xfrm>
            <a:off x="1353312" y="4224528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C7CB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criteria with a 10-point maximum.</a:t>
            </a:r>
            <a:endParaRPr lang="en-US" sz="1010" dirty="0"/>
          </a:p>
        </p:txBody>
      </p:sp>
      <p:sp>
        <p:nvSpPr>
          <p:cNvPr id="24" name="Shape 22"/>
          <p:cNvSpPr/>
          <p:nvPr/>
        </p:nvSpPr>
        <p:spPr>
          <a:xfrm>
            <a:off x="4434840" y="3776472"/>
            <a:ext cx="3310128" cy="1005840"/>
          </a:xfrm>
          <a:prstGeom prst="roundRect">
            <a:avLst>
              <a:gd name="adj" fmla="val 7273"/>
            </a:avLst>
          </a:prstGeom>
          <a:solidFill>
            <a:srgbClr val="252932"/>
          </a:solidFill>
          <a:ln w="10160">
            <a:solidFill>
              <a:srgbClr val="30354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99432" y="395020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F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074920" y="3931920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spc="25" kern="0" dirty="0">
                <a:solidFill>
                  <a:srgbClr val="F7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 WORKFLOW</a:t>
            </a:r>
            <a:endParaRPr lang="en-US" sz="970" dirty="0"/>
          </a:p>
        </p:txBody>
      </p:sp>
      <p:sp>
        <p:nvSpPr>
          <p:cNvPr id="27" name="Text 25"/>
          <p:cNvSpPr txBox="1"/>
          <p:nvPr/>
        </p:nvSpPr>
        <p:spPr>
          <a:xfrm>
            <a:off x="5074920" y="4224528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C7CB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Evidence, research dates and recorded decisions.</a:t>
            </a:r>
            <a:endParaRPr lang="en-US" sz="1010" dirty="0"/>
          </a:p>
        </p:txBody>
      </p:sp>
      <p:sp>
        <p:nvSpPr>
          <p:cNvPr id="28" name="Shape 26"/>
          <p:cNvSpPr/>
          <p:nvPr/>
        </p:nvSpPr>
        <p:spPr>
          <a:xfrm>
            <a:off x="8156448" y="3776472"/>
            <a:ext cx="3310128" cy="1005840"/>
          </a:xfrm>
          <a:prstGeom prst="roundRect">
            <a:avLst>
              <a:gd name="adj" fmla="val 7273"/>
            </a:avLst>
          </a:prstGeom>
          <a:solidFill>
            <a:srgbClr val="252932"/>
          </a:solidFill>
          <a:ln w="10160">
            <a:solidFill>
              <a:srgbClr val="30354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21040" y="395020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F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96528" y="3931920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spc="25" kern="0" dirty="0">
                <a:solidFill>
                  <a:srgbClr val="F7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&amp; PRIVACY SAFEGUARDS</a:t>
            </a:r>
            <a:endParaRPr lang="en-US" sz="970" dirty="0"/>
          </a:p>
        </p:txBody>
      </p:sp>
      <p:sp>
        <p:nvSpPr>
          <p:cNvPr id="31" name="Text 29"/>
          <p:cNvSpPr txBox="1"/>
          <p:nvPr/>
        </p:nvSpPr>
        <p:spPr>
          <a:xfrm>
            <a:off x="8796528" y="4224528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C7CB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Appropriate business sources and opt-out respect.</a:t>
            </a:r>
            <a:endParaRPr lang="en-US" sz="101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5074920"/>
            <a:ext cx="85953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FF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FIRST. QUALIFY CAREFULLY.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C8FF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OUTREACH RELEVANTLY.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731520" y="6099048"/>
            <a:ext cx="10789920" cy="0"/>
          </a:xfrm>
          <a:prstGeom prst="line">
            <a:avLst/>
          </a:prstGeom>
          <a:noFill/>
          <a:ln w="12700">
            <a:solidFill>
              <a:srgbClr val="30354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9808" y="63093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C7CB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Suresh Yadav  |  B2B Lead Generation Portfolio</a:t>
            </a:r>
            <a:endParaRPr lang="en-US" sz="920" dirty="0"/>
          </a:p>
        </p:txBody>
      </p:sp>
      <p:sp>
        <p:nvSpPr>
          <p:cNvPr id="35" name="Text 33"/>
          <p:cNvSpPr txBox="1"/>
          <p:nvPr/>
        </p:nvSpPr>
        <p:spPr>
          <a:xfrm>
            <a:off x="6428232" y="630936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777D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NORTHFRAME STUDIO IS FICTIONAL • NO VERIFIED BUYER RESEARCH CLAIMED</a:t>
            </a:r>
            <a:endParaRPr lang="en-US" sz="8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NORTHFRAME STUDIO (fictional concept project)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Ideal Customer Profile &amp; Prospect Qualification Framework</dc:title>
  <dc:subject>B2B Lead Generation and Prospect Qualification Portfolio</dc:subject>
  <dc:creator>Suresh Yadav</dc:creator>
  <cp:lastModifiedBy>Suresh Yadav</cp:lastModifiedBy>
  <cp:revision>1</cp:revision>
  <dcterms:created xsi:type="dcterms:W3CDTF">2026-10-17T19:48:46Z</dcterms:created>
  <dcterms:modified xsi:type="dcterms:W3CDTF">2026-10-17T19:48:46Z</dcterms:modified>
</cp:coreProperties>
</file>